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75" r:id="rId5"/>
    <p:sldId id="2076138264" r:id="rId6"/>
    <p:sldId id="2076138269" r:id="rId7"/>
    <p:sldId id="2076138270" r:id="rId8"/>
    <p:sldId id="2076138280" r:id="rId9"/>
    <p:sldId id="2076138273" r:id="rId10"/>
    <p:sldId id="2076138275" r:id="rId11"/>
    <p:sldId id="2076138262" r:id="rId12"/>
    <p:sldId id="272" r:id="rId13"/>
    <p:sldId id="2076138271" r:id="rId14"/>
    <p:sldId id="2076138263" r:id="rId15"/>
    <p:sldId id="271" r:id="rId16"/>
    <p:sldId id="2076138268" r:id="rId17"/>
    <p:sldId id="2076138281" r:id="rId18"/>
    <p:sldId id="2076138305" r:id="rId19"/>
    <p:sldId id="2076138307" r:id="rId20"/>
    <p:sldId id="2076138306" r:id="rId21"/>
    <p:sldId id="2076138309" r:id="rId22"/>
    <p:sldId id="2076138310" r:id="rId23"/>
    <p:sldId id="2076138286" r:id="rId24"/>
    <p:sldId id="2076138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777F11-E205-3C5D-EDB5-EF0EBE83A99E}" name="Atlas Winter" initials="AW" userId="S::awinter@affirma.com::6bdebf3b-b335-49a6-b695-d0cc2ad365cb" providerId="AD"/>
  <p188:author id="{8763E84A-B743-8105-B60B-3B64B37DD558}" name="Brenda Carter" initials="BC" userId="S::bcarter@microsoft.com::aa37c41c-2c3f-417f-ac52-236dfa9ba7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2282B-66B6-1D1E-D4D0-4F5AB6A2D1F1}" v="121" dt="2024-11-14T03:46:21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142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D6946C-7A4E-2630-4BEE-3F140D45B4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B1C1A-8B8B-67C8-BFED-90C6C4088B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4522A-CBA8-4C73-BFFA-6830DCDC50D0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EDCEB-38DA-5BA3-483C-6A14689BE0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67C00-8CDB-0DD7-4B2F-0A024C064F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C0F0C-BB23-4079-B3AA-0BB24FCCCB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98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38799-85DE-4D64-B2AC-1895B5E1B055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5357B-8F40-42E9-BE27-6FDDE825A71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35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5357B-8F40-42E9-BE27-6FDDE825A71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4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5357B-8F40-42E9-BE27-6FDDE825A71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7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25357B-8F40-42E9-BE27-6FDDE825A7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08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5357B-8F40-42E9-BE27-6FDDE825A71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785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5357B-8F40-42E9-BE27-6FDDE825A71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25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25357B-8F40-42E9-BE27-6FDDE825A7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195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25357B-8F40-42E9-BE27-6FDDE825A7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541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25357B-8F40-42E9-BE27-6FDDE825A7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460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C5EF-FC95-0CDB-55ED-987FFAAB7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BF231-ECF4-71E5-42DF-BD4B7BB29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5DFE7-A853-C54F-37B6-E5B72A54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1F89-6508-73AD-A5D4-90072CD2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256EE-682B-CA8E-1899-792C682A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BD11-6786-43DB-75F2-EF5C5224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1708-61B4-28B4-D844-A83F7185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8F82-FA97-3C5D-3D28-0FE804D3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D5FD-7A2A-81F0-CCD9-355F3596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9B925-96E6-E097-D53E-0AA0423C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1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2210-27C7-721B-6E2D-FCB7A3F9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EE009-E0A9-CC1E-58A8-CC7D7DA26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3D469-48E5-481F-EA15-44F92559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AA986-C63D-37A6-F176-F292AD52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9F03-B176-10C7-D5C2-6D787298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20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36C4-AABE-B626-B39B-F945D515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F394-9A28-383D-96D1-3C2A5D438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0C349-8674-929F-AD21-FF21AAC6F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CC231-940B-2ED0-ED9E-A390FDE6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E61E2-9C47-B494-EC6E-BA70A71C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88DD0-3ED1-5974-D115-7ED4CF87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6E04-15A7-021E-4F47-3FEDBA78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5643E-6501-C574-324F-9D93B4A81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E5A23-7D97-7416-4879-8828F7BA2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76711-191E-D949-A3CE-CCE245C8B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E1BCB-7125-D936-F257-0B05BA379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42809-0F92-706E-951C-D5E7A0A6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75546-7597-6362-FA7E-04D85411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5390B-6DEE-C6DC-A450-C3E8A4EA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3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0A13-A765-D654-6337-3527D8C3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FA9C6-1FD4-A8BC-F6E7-43E5129C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8E90B-2B00-F54D-2C5F-7688C420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3104D-1A21-18CA-8399-80B7D827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3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26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kehol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FC1947-F1B0-8AA9-11D1-2F4C19C0B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3054096" cy="6857999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2157CB8-84C8-93BE-A2DC-A1B6BFF7F451}"/>
              </a:ext>
            </a:extLst>
          </p:cNvPr>
          <p:cNvSpPr/>
          <p:nvPr userDrawn="1"/>
        </p:nvSpPr>
        <p:spPr>
          <a:xfrm>
            <a:off x="-1016" y="1857550"/>
            <a:ext cx="2694893" cy="130162"/>
          </a:xfrm>
          <a:custGeom>
            <a:avLst/>
            <a:gdLst>
              <a:gd name="connsiteX0" fmla="*/ 0 w 2694893"/>
              <a:gd name="connsiteY0" fmla="*/ 0 h 130162"/>
              <a:gd name="connsiteX1" fmla="*/ 2629811 w 2694893"/>
              <a:gd name="connsiteY1" fmla="*/ 0 h 130162"/>
              <a:gd name="connsiteX2" fmla="*/ 2629811 w 2694893"/>
              <a:gd name="connsiteY2" fmla="*/ 0 h 130162"/>
              <a:gd name="connsiteX3" fmla="*/ 2629812 w 2694893"/>
              <a:gd name="connsiteY3" fmla="*/ 0 h 130162"/>
              <a:gd name="connsiteX4" fmla="*/ 2694893 w 2694893"/>
              <a:gd name="connsiteY4" fmla="*/ 65081 h 130162"/>
              <a:gd name="connsiteX5" fmla="*/ 2629812 w 2694893"/>
              <a:gd name="connsiteY5" fmla="*/ 130162 h 130162"/>
              <a:gd name="connsiteX6" fmla="*/ 2629807 w 2694893"/>
              <a:gd name="connsiteY6" fmla="*/ 130161 h 130162"/>
              <a:gd name="connsiteX7" fmla="*/ 0 w 2694893"/>
              <a:gd name="connsiteY7" fmla="*/ 130161 h 130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893" h="130162">
                <a:moveTo>
                  <a:pt x="0" y="0"/>
                </a:moveTo>
                <a:lnTo>
                  <a:pt x="2629811" y="0"/>
                </a:lnTo>
                <a:lnTo>
                  <a:pt x="2629811" y="0"/>
                </a:lnTo>
                <a:lnTo>
                  <a:pt x="2629812" y="0"/>
                </a:lnTo>
                <a:cubicBezTo>
                  <a:pt x="2665755" y="0"/>
                  <a:pt x="2694893" y="29138"/>
                  <a:pt x="2694893" y="65081"/>
                </a:cubicBezTo>
                <a:cubicBezTo>
                  <a:pt x="2694893" y="101024"/>
                  <a:pt x="2665755" y="130162"/>
                  <a:pt x="2629812" y="130162"/>
                </a:cubicBezTo>
                <a:lnTo>
                  <a:pt x="2629807" y="130161"/>
                </a:lnTo>
                <a:lnTo>
                  <a:pt x="0" y="1301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4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BE83-53CE-18CC-FED8-0C2A4968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EDD3-D2D7-E436-9B96-ED08D7779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5B9B9-4BD3-5E49-1E70-FA1F5DDD4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1B1AE-7CF9-3C89-2F65-5707F093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58F22-30D1-3998-E4BD-DE1A4E53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154C9-1DB7-3ED7-B8F0-05416FE6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35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83A4-DC06-6CBA-2CFB-3641C891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F5FA8-D53B-07C2-6E4D-F80095EE3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21D8B-6144-278D-0E02-317CAA77E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D9855-804C-0A08-574B-DF95A652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A385C-033B-C7F9-B377-9C291721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AC5DD-33F5-C5FE-1478-744C97A9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6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6865-9275-498F-1B53-1BF1A98A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8DEC6-58FA-9982-7C6A-CE4ED5695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EEB4-798D-C91F-8777-FDCA0EA2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A9294-ECF7-2400-5E2A-5CCBA349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4873D-FEA2-A71C-8A81-392F2D1C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92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84539-408C-0E09-86BE-C639FF3DD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E43DF-BC6A-C3A6-6167-A341214D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62BB4-8C11-8067-C5C5-EC03C49C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5EDD9-3F51-E926-ABC6-56B70EFB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9CB62-77EE-0F2D-48C4-4EC2AE4C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9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50052-DE14-63CC-0962-9188971F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AEFA2-5A06-7AC2-F004-FEC0858A7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F40FF-F364-FA6B-B5E4-9AD35A631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A981B-270A-4775-9455-EAB3381B00B3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01858-8E97-880B-0014-C5EFDD1F3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9CAB-0CA8-E3DE-37F4-2507034A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EABCE-BEE0-4AAB-AE3D-543B91BC64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6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63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download.microsoft.com/download/d/0/3/d030e1d6-ea3d-45a1-9672-938e1b01db0d/zero-trust-business-scenario-objectives-tracking-workbook.xlsx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6D6B3-4194-464A-E91D-1FCA4D17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Zero Trust adoption resources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8BE9D-3240-388D-A67A-85B651E005FE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9D44F-4BCE-24CE-B71E-E269C7579C03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50FD50-3618-A084-7891-C5EF5959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r="93"/>
          <a:stretch/>
        </p:blipFill>
        <p:spPr>
          <a:xfrm>
            <a:off x="173943" y="176783"/>
            <a:ext cx="2743200" cy="8299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0190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AB1BD0-7FB9-D1EF-8683-47780045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What’s included?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F32520-E083-A1B8-3892-776212B9C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Progress tracker for each business scenario</a:t>
            </a:r>
          </a:p>
          <a:p>
            <a:r>
              <a:rPr lang="en-US" sz="2000" dirty="0"/>
              <a:t>Track recommended tasks across four stages</a:t>
            </a:r>
          </a:p>
          <a:p>
            <a:r>
              <a:rPr lang="en-US" sz="2000" dirty="0"/>
              <a:t>Read the included instructions to use the tracking features</a:t>
            </a:r>
          </a:p>
          <a:p>
            <a:r>
              <a:rPr lang="en-US" sz="2000" dirty="0"/>
              <a:t>Customize these for your organization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5B6C9-C785-710B-CA32-34F24E933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Stakeholder teams for each business scenario</a:t>
            </a:r>
          </a:p>
          <a:p>
            <a:r>
              <a:rPr lang="en-US" sz="2000" dirty="0"/>
              <a:t>Example stakeholder teams for each business scenario</a:t>
            </a:r>
          </a:p>
          <a:p>
            <a:r>
              <a:rPr lang="en-US" sz="2000" dirty="0"/>
              <a:t>Customize the team for your organization</a:t>
            </a:r>
          </a:p>
        </p:txBody>
      </p:sp>
      <p:sp>
        <p:nvSpPr>
          <p:cNvPr id="10" name="Rectangle: Rounded Corners 9">
            <a:hlinkClick r:id="rId2"/>
            <a:extLst>
              <a:ext uri="{FF2B5EF4-FFF2-40B4-BE49-F238E27FC236}">
                <a16:creationId xmlns:a16="http://schemas.microsoft.com/office/drawing/2014/main" id="{D7B059F0-FBE4-D742-0BE9-49484F24F245}"/>
              </a:ext>
            </a:extLst>
          </p:cNvPr>
          <p:cNvSpPr/>
          <p:nvPr/>
        </p:nvSpPr>
        <p:spPr>
          <a:xfrm>
            <a:off x="7808138" y="5716393"/>
            <a:ext cx="4059050" cy="940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hlinkClick r:id="rId2"/>
            <a:extLst>
              <a:ext uri="{FF2B5EF4-FFF2-40B4-BE49-F238E27FC236}">
                <a16:creationId xmlns:a16="http://schemas.microsoft.com/office/drawing/2014/main" id="{B1DBA956-D50F-9481-E65C-619C4C46DCFC}"/>
              </a:ext>
            </a:extLst>
          </p:cNvPr>
          <p:cNvSpPr txBox="1">
            <a:spLocks/>
          </p:cNvSpPr>
          <p:nvPr/>
        </p:nvSpPr>
        <p:spPr>
          <a:xfrm>
            <a:off x="7926763" y="5775529"/>
            <a:ext cx="2986883" cy="88181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Also download this Excel workbook to track owners and tasks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3C3C61-A901-C54F-A505-EE2CE1907461}"/>
              </a:ext>
            </a:extLst>
          </p:cNvPr>
          <p:cNvSpPr/>
          <p:nvPr/>
        </p:nvSpPr>
        <p:spPr>
          <a:xfrm>
            <a:off x="10989846" y="6087375"/>
            <a:ext cx="213582" cy="246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hlinkClick r:id="rId2"/>
            <a:extLst>
              <a:ext uri="{FF2B5EF4-FFF2-40B4-BE49-F238E27FC236}">
                <a16:creationId xmlns:a16="http://schemas.microsoft.com/office/drawing/2014/main" id="{6229043B-6C06-7581-17E6-7755A62A2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BFDFA"/>
              </a:clrFrom>
              <a:clrTo>
                <a:srgbClr val="FB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t="17515" r="16284" b="16692"/>
          <a:stretch/>
        </p:blipFill>
        <p:spPr bwMode="auto">
          <a:xfrm>
            <a:off x="10898988" y="5890559"/>
            <a:ext cx="734438" cy="651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13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A10F59-A2FA-D128-1998-F3A0817D5180}"/>
              </a:ext>
            </a:extLst>
          </p:cNvPr>
          <p:cNvSpPr txBox="1"/>
          <p:nvPr/>
        </p:nvSpPr>
        <p:spPr>
          <a:xfrm>
            <a:off x="402336" y="402336"/>
            <a:ext cx="5867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Using the progress trackers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56919F9-F33D-4498-9AAF-0CD06A172DB3}"/>
              </a:ext>
            </a:extLst>
          </p:cNvPr>
          <p:cNvSpPr/>
          <p:nvPr/>
        </p:nvSpPr>
        <p:spPr>
          <a:xfrm>
            <a:off x="8943921" y="1249180"/>
            <a:ext cx="2842693" cy="2895166"/>
          </a:xfrm>
          <a:prstGeom prst="roundRect">
            <a:avLst>
              <a:gd name="adj" fmla="val 2663"/>
            </a:avLst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C7F9201-0DAA-3F63-40D9-B0E0D7B8D98C}"/>
              </a:ext>
            </a:extLst>
          </p:cNvPr>
          <p:cNvSpPr/>
          <p:nvPr/>
        </p:nvSpPr>
        <p:spPr>
          <a:xfrm>
            <a:off x="402336" y="4372945"/>
            <a:ext cx="11384280" cy="2066544"/>
          </a:xfrm>
          <a:prstGeom prst="roundRect">
            <a:avLst>
              <a:gd name="adj" fmla="val 266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4B4AB2-B562-9685-4C61-63D5F42DC528}"/>
              </a:ext>
            </a:extLst>
          </p:cNvPr>
          <p:cNvSpPr/>
          <p:nvPr/>
        </p:nvSpPr>
        <p:spPr>
          <a:xfrm>
            <a:off x="402336" y="1249179"/>
            <a:ext cx="8314944" cy="2895166"/>
          </a:xfrm>
          <a:prstGeom prst="roundRect">
            <a:avLst>
              <a:gd name="adj" fmla="val 266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77AA2-E26E-AE59-FC83-EAC5D13038C3}"/>
              </a:ext>
            </a:extLst>
          </p:cNvPr>
          <p:cNvSpPr txBox="1"/>
          <p:nvPr/>
        </p:nvSpPr>
        <p:spPr>
          <a:xfrm>
            <a:off x="620794" y="1441697"/>
            <a:ext cx="2423160" cy="244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Shields have three states: 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13201-F003-3C91-2C08-0D19CB1DDE80}"/>
              </a:ext>
            </a:extLst>
          </p:cNvPr>
          <p:cNvSpPr txBox="1"/>
          <p:nvPr/>
        </p:nvSpPr>
        <p:spPr>
          <a:xfrm>
            <a:off x="935754" y="2531317"/>
            <a:ext cx="913366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Not Started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1A19AF-3778-F1F6-B507-8CB75EDB4F89}"/>
              </a:ext>
            </a:extLst>
          </p:cNvPr>
          <p:cNvSpPr txBox="1"/>
          <p:nvPr/>
        </p:nvSpPr>
        <p:spPr>
          <a:xfrm>
            <a:off x="2449594" y="2531317"/>
            <a:ext cx="880346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In Progress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3580A-D48F-269F-F4EF-2D51D946B1A0}"/>
              </a:ext>
            </a:extLst>
          </p:cNvPr>
          <p:cNvSpPr txBox="1"/>
          <p:nvPr/>
        </p:nvSpPr>
        <p:spPr>
          <a:xfrm>
            <a:off x="3930414" y="2531317"/>
            <a:ext cx="763506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Complete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82EEB-A9CD-81D6-596F-EF605B5DC48A}"/>
              </a:ext>
            </a:extLst>
          </p:cNvPr>
          <p:cNvSpPr txBox="1"/>
          <p:nvPr/>
        </p:nvSpPr>
        <p:spPr>
          <a:xfrm>
            <a:off x="620793" y="3002094"/>
            <a:ext cx="3561775" cy="244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Diamonds have two states: 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9122AB3F-D1EE-59D9-26FE-7D5B8A460BA4}"/>
              </a:ext>
            </a:extLst>
          </p:cNvPr>
          <p:cNvSpPr/>
          <p:nvPr/>
        </p:nvSpPr>
        <p:spPr>
          <a:xfrm>
            <a:off x="2798327" y="3455171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9F3A9055-5618-FB36-7A2E-2FC86152A7C8}"/>
              </a:ext>
            </a:extLst>
          </p:cNvPr>
          <p:cNvSpPr/>
          <p:nvPr/>
        </p:nvSpPr>
        <p:spPr>
          <a:xfrm>
            <a:off x="1300997" y="3455171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9BE0C3F-C23F-305C-9933-120D78F9020F}"/>
              </a:ext>
            </a:extLst>
          </p:cNvPr>
          <p:cNvSpPr/>
          <p:nvPr/>
        </p:nvSpPr>
        <p:spPr>
          <a:xfrm>
            <a:off x="1300997" y="3455171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23B4C-3A11-8543-9219-6C9A45BAEB41}"/>
              </a:ext>
            </a:extLst>
          </p:cNvPr>
          <p:cNvSpPr txBox="1"/>
          <p:nvPr/>
        </p:nvSpPr>
        <p:spPr>
          <a:xfrm>
            <a:off x="935754" y="3738243"/>
            <a:ext cx="913366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Incomplete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2A7F-C916-49E1-9F54-B1C8C074A24E}"/>
              </a:ext>
            </a:extLst>
          </p:cNvPr>
          <p:cNvSpPr txBox="1"/>
          <p:nvPr/>
        </p:nvSpPr>
        <p:spPr>
          <a:xfrm>
            <a:off x="2508014" y="3738243"/>
            <a:ext cx="763506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Complete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7B3DC-3E47-C2A7-859D-B43D05B5D3F5}"/>
              </a:ext>
            </a:extLst>
          </p:cNvPr>
          <p:cNvSpPr txBox="1"/>
          <p:nvPr/>
        </p:nvSpPr>
        <p:spPr>
          <a:xfrm>
            <a:off x="5447507" y="1849347"/>
            <a:ext cx="2707462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To change the state, delete the icon. This will reveal the next state underneath.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6D81A2-6613-4DAC-C7C1-0FE8DD4F1D7B}"/>
              </a:ext>
            </a:extLst>
          </p:cNvPr>
          <p:cNvGrpSpPr/>
          <p:nvPr/>
        </p:nvGrpSpPr>
        <p:grpSpPr>
          <a:xfrm>
            <a:off x="4054508" y="1888481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54A0F3-84B6-7AD0-305E-89236F7493CE}"/>
              </a:ext>
            </a:extLst>
          </p:cNvPr>
          <p:cNvGrpSpPr/>
          <p:nvPr/>
        </p:nvGrpSpPr>
        <p:grpSpPr>
          <a:xfrm>
            <a:off x="2632108" y="1888481"/>
            <a:ext cx="515317" cy="548640"/>
            <a:chOff x="722394" y="2410565"/>
            <a:chExt cx="515317" cy="548640"/>
          </a:xfrm>
        </p:grpSpPr>
        <p:sp>
          <p:nvSpPr>
            <p:cNvPr id="30" name="Shield_EA18" title="Icon of a shield">
              <a:extLst>
                <a:ext uri="{FF2B5EF4-FFF2-40B4-BE49-F238E27FC236}">
                  <a16:creationId xmlns:a16="http://schemas.microsoft.com/office/drawing/2014/main" id="{8F6F1E8A-16A1-4B16-3911-E9DA7434BC5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31" name="check" title="Icon of a checkmark">
              <a:extLst>
                <a:ext uri="{FF2B5EF4-FFF2-40B4-BE49-F238E27FC236}">
                  <a16:creationId xmlns:a16="http://schemas.microsoft.com/office/drawing/2014/main" id="{2CB9D6AE-70D2-D106-7A86-B3F1B85F65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2632108" y="1888481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2D4687E-B277-1E0C-1677-2D768C022FA6}"/>
              </a:ext>
            </a:extLst>
          </p:cNvPr>
          <p:cNvGrpSpPr/>
          <p:nvPr/>
        </p:nvGrpSpPr>
        <p:grpSpPr>
          <a:xfrm>
            <a:off x="1134779" y="1888481"/>
            <a:ext cx="515317" cy="548640"/>
            <a:chOff x="722394" y="2410565"/>
            <a:chExt cx="515317" cy="548640"/>
          </a:xfrm>
        </p:grpSpPr>
        <p:sp>
          <p:nvSpPr>
            <p:cNvPr id="39" name="Shield_EA18" title="Icon of a shield">
              <a:extLst>
                <a:ext uri="{FF2B5EF4-FFF2-40B4-BE49-F238E27FC236}">
                  <a16:creationId xmlns:a16="http://schemas.microsoft.com/office/drawing/2014/main" id="{4997B39F-4044-B1A1-3E8D-0E76B4EB5F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40" name="check" title="Icon of a checkmark">
              <a:extLst>
                <a:ext uri="{FF2B5EF4-FFF2-40B4-BE49-F238E27FC236}">
                  <a16:creationId xmlns:a16="http://schemas.microsoft.com/office/drawing/2014/main" id="{390ED085-89F2-5725-EE27-F6F0BE4F32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sp>
        <p:nvSpPr>
          <p:cNvPr id="41" name="Shield_EA18" title="Icon of a shield">
            <a:extLst>
              <a:ext uri="{FF2B5EF4-FFF2-40B4-BE49-F238E27FC236}">
                <a16:creationId xmlns:a16="http://schemas.microsoft.com/office/drawing/2014/main" id="{58544F03-7C2D-8BD2-01D2-8F067F0291F3}"/>
              </a:ext>
            </a:extLst>
          </p:cNvPr>
          <p:cNvSpPr>
            <a:spLocks noChangeAspect="1"/>
          </p:cNvSpPr>
          <p:nvPr/>
        </p:nvSpPr>
        <p:spPr bwMode="auto">
          <a:xfrm>
            <a:off x="1134779" y="1888481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43" name="Shield_EA18" title="Icon of a shield">
            <a:extLst>
              <a:ext uri="{FF2B5EF4-FFF2-40B4-BE49-F238E27FC236}">
                <a16:creationId xmlns:a16="http://schemas.microsoft.com/office/drawing/2014/main" id="{4D83A7C5-2983-142D-71B4-A5C978F0A73F}"/>
              </a:ext>
            </a:extLst>
          </p:cNvPr>
          <p:cNvSpPr>
            <a:spLocks noChangeAspect="1"/>
          </p:cNvSpPr>
          <p:nvPr/>
        </p:nvSpPr>
        <p:spPr bwMode="auto">
          <a:xfrm>
            <a:off x="1134779" y="1888481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6A450B-C1E3-15B9-3CFB-DF0973F53B08}"/>
              </a:ext>
            </a:extLst>
          </p:cNvPr>
          <p:cNvSpPr txBox="1"/>
          <p:nvPr/>
        </p:nvSpPr>
        <p:spPr>
          <a:xfrm>
            <a:off x="620795" y="4611126"/>
            <a:ext cx="4182702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The progress bar indicates the stage on which the client is primarily focused.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44E633-68F2-86ED-0EDB-A563C4FBABD1}"/>
              </a:ext>
            </a:extLst>
          </p:cNvPr>
          <p:cNvSpPr txBox="1"/>
          <p:nvPr/>
        </p:nvSpPr>
        <p:spPr>
          <a:xfrm>
            <a:off x="4693920" y="4640545"/>
            <a:ext cx="3328416" cy="905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Hold shift and drag the marker to move it along the progress bar. “Invisible” blocks beneath the bar can be used to precisely align the marker to each stage.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3206BE-59D2-B3F0-F2B2-B7D1008FE0E8}"/>
              </a:ext>
            </a:extLst>
          </p:cNvPr>
          <p:cNvSpPr txBox="1"/>
          <p:nvPr/>
        </p:nvSpPr>
        <p:spPr>
          <a:xfrm>
            <a:off x="9162379" y="2096974"/>
            <a:ext cx="2397594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Please familiarize yourself with the deck and ensure the slide is hidden before presenting.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DAFFC1-DE0D-82C0-E5B0-B421EFDDFD74}"/>
              </a:ext>
            </a:extLst>
          </p:cNvPr>
          <p:cNvSpPr txBox="1"/>
          <p:nvPr/>
        </p:nvSpPr>
        <p:spPr>
          <a:xfrm>
            <a:off x="9162379" y="1441697"/>
            <a:ext cx="2405780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This slide is for internal use only.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848EAF-A629-73E2-7D14-38226B2410BA}"/>
              </a:ext>
            </a:extLst>
          </p:cNvPr>
          <p:cNvSpPr txBox="1"/>
          <p:nvPr/>
        </p:nvSpPr>
        <p:spPr>
          <a:xfrm>
            <a:off x="8240268" y="4640545"/>
            <a:ext cx="3328416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When all stages are complete, delete the line, marker, and checkmark to reveal the checkmark’s Finished state.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1" name="check 3" title="Icon of a checkmark with a circle around it">
            <a:extLst>
              <a:ext uri="{FF2B5EF4-FFF2-40B4-BE49-F238E27FC236}">
                <a16:creationId xmlns:a16="http://schemas.microsoft.com/office/drawing/2014/main" id="{322B0765-0BA7-D14A-750D-08B9B02A910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179007" y="5640620"/>
            <a:ext cx="389152" cy="386895"/>
          </a:xfrm>
          <a:custGeom>
            <a:avLst/>
            <a:gdLst>
              <a:gd name="T0" fmla="*/ 250 w 250"/>
              <a:gd name="T1" fmla="*/ 125 h 250"/>
              <a:gd name="T2" fmla="*/ 125 w 250"/>
              <a:gd name="T3" fmla="*/ 250 h 250"/>
              <a:gd name="T4" fmla="*/ 0 w 250"/>
              <a:gd name="T5" fmla="*/ 125 h 250"/>
              <a:gd name="T6" fmla="*/ 125 w 250"/>
              <a:gd name="T7" fmla="*/ 0 h 250"/>
              <a:gd name="T8" fmla="*/ 250 w 250"/>
              <a:gd name="T9" fmla="*/ 125 h 250"/>
              <a:gd name="T10" fmla="*/ 60 w 250"/>
              <a:gd name="T11" fmla="*/ 125 h 250"/>
              <a:gd name="T12" fmla="*/ 100 w 250"/>
              <a:gd name="T13" fmla="*/ 165 h 250"/>
              <a:gd name="T14" fmla="*/ 190 w 250"/>
              <a:gd name="T15" fmla="*/ 74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250">
                <a:moveTo>
                  <a:pt x="250" y="125"/>
                </a:moveTo>
                <a:cubicBezTo>
                  <a:pt x="250" y="194"/>
                  <a:pt x="194" y="250"/>
                  <a:pt x="125" y="250"/>
                </a:cubicBezTo>
                <a:cubicBezTo>
                  <a:pt x="56" y="250"/>
                  <a:pt x="0" y="194"/>
                  <a:pt x="0" y="125"/>
                </a:cubicBezTo>
                <a:cubicBezTo>
                  <a:pt x="0" y="56"/>
                  <a:pt x="56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close/>
                <a:moveTo>
                  <a:pt x="60" y="125"/>
                </a:moveTo>
                <a:cubicBezTo>
                  <a:pt x="100" y="165"/>
                  <a:pt x="100" y="165"/>
                  <a:pt x="100" y="165"/>
                </a:cubicBezTo>
                <a:cubicBezTo>
                  <a:pt x="190" y="74"/>
                  <a:pt x="190" y="74"/>
                  <a:pt x="190" y="74"/>
                </a:cubicBezTo>
              </a:path>
            </a:pathLst>
          </a:custGeom>
          <a:noFill/>
          <a:ln w="15875" cap="sq">
            <a:solidFill>
              <a:schemeClr val="bg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solidFill>
                <a:srgbClr val="282828"/>
              </a:solidFill>
              <a:latin typeface="Segoe UI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D573611-7816-5D2E-5EB3-1C85C31E1F0A}"/>
              </a:ext>
            </a:extLst>
          </p:cNvPr>
          <p:cNvSpPr/>
          <p:nvPr/>
        </p:nvSpPr>
        <p:spPr>
          <a:xfrm>
            <a:off x="9018354" y="6162731"/>
            <a:ext cx="2549805" cy="43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F99D0E7-71FC-8574-665C-21CAC8422102}"/>
              </a:ext>
            </a:extLst>
          </p:cNvPr>
          <p:cNvSpPr/>
          <p:nvPr/>
        </p:nvSpPr>
        <p:spPr>
          <a:xfrm>
            <a:off x="6248354" y="6162731"/>
            <a:ext cx="2549805" cy="43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30D0322-238C-264C-792C-C9267752EFBA}"/>
              </a:ext>
            </a:extLst>
          </p:cNvPr>
          <p:cNvSpPr/>
          <p:nvPr/>
        </p:nvSpPr>
        <p:spPr>
          <a:xfrm>
            <a:off x="3478538" y="6162731"/>
            <a:ext cx="2549805" cy="43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9B8702-EE44-FE0E-C834-3330EE987AE0}"/>
              </a:ext>
            </a:extLst>
          </p:cNvPr>
          <p:cNvSpPr/>
          <p:nvPr/>
        </p:nvSpPr>
        <p:spPr>
          <a:xfrm>
            <a:off x="708723" y="6162731"/>
            <a:ext cx="2549805" cy="43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D172873-385B-61AF-0DA6-4973307111A5}"/>
              </a:ext>
            </a:extLst>
          </p:cNvPr>
          <p:cNvGrpSpPr/>
          <p:nvPr/>
        </p:nvGrpSpPr>
        <p:grpSpPr>
          <a:xfrm>
            <a:off x="620792" y="5640620"/>
            <a:ext cx="10947367" cy="386895"/>
            <a:chOff x="620792" y="5640620"/>
            <a:chExt cx="10947367" cy="386895"/>
          </a:xfrm>
        </p:grpSpPr>
        <p:sp>
          <p:nvSpPr>
            <p:cNvPr id="92" name="check 3" title="Icon of a checkmark with a circle around it">
              <a:extLst>
                <a:ext uri="{FF2B5EF4-FFF2-40B4-BE49-F238E27FC236}">
                  <a16:creationId xmlns:a16="http://schemas.microsoft.com/office/drawing/2014/main" id="{F04DFE44-620F-891B-5EB6-7D30FC0F66F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179007" y="5640620"/>
              <a:ext cx="389152" cy="386895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2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solidFill>
                  <a:srgbClr val="282828"/>
                </a:solidFill>
                <a:latin typeface="Segoe UI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3C3D30A-3905-BAC8-C812-B88EE28A2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92" y="5834068"/>
              <a:ext cx="10558215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83B1179C-3B82-1A50-EBA6-A1A8ADDF3DA7}"/>
              </a:ext>
            </a:extLst>
          </p:cNvPr>
          <p:cNvSpPr>
            <a:spLocks noChangeAspect="1"/>
          </p:cNvSpPr>
          <p:nvPr/>
        </p:nvSpPr>
        <p:spPr>
          <a:xfrm>
            <a:off x="1838539" y="5640620"/>
            <a:ext cx="290171" cy="29017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26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A10F59-A2FA-D128-1998-F3A0817D5180}"/>
              </a:ext>
            </a:extLst>
          </p:cNvPr>
          <p:cNvSpPr txBox="1"/>
          <p:nvPr/>
        </p:nvSpPr>
        <p:spPr>
          <a:xfrm>
            <a:off x="402336" y="402336"/>
            <a:ext cx="5867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Using the stakeholder slide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56919F9-F33D-4498-9AAF-0CD06A172DB3}"/>
              </a:ext>
            </a:extLst>
          </p:cNvPr>
          <p:cNvSpPr/>
          <p:nvPr/>
        </p:nvSpPr>
        <p:spPr>
          <a:xfrm>
            <a:off x="8943921" y="1249179"/>
            <a:ext cx="2842693" cy="2487168"/>
          </a:xfrm>
          <a:prstGeom prst="roundRect">
            <a:avLst>
              <a:gd name="adj" fmla="val 2663"/>
            </a:avLst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C7F9201-0DAA-3F63-40D9-B0E0D7B8D98C}"/>
              </a:ext>
            </a:extLst>
          </p:cNvPr>
          <p:cNvSpPr/>
          <p:nvPr/>
        </p:nvSpPr>
        <p:spPr>
          <a:xfrm>
            <a:off x="4459719" y="1249179"/>
            <a:ext cx="4265748" cy="5190310"/>
          </a:xfrm>
          <a:prstGeom prst="roundRect">
            <a:avLst>
              <a:gd name="adj" fmla="val 266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4B4AB2-B562-9685-4C61-63D5F42DC528}"/>
              </a:ext>
            </a:extLst>
          </p:cNvPr>
          <p:cNvSpPr/>
          <p:nvPr/>
        </p:nvSpPr>
        <p:spPr>
          <a:xfrm>
            <a:off x="402336" y="1249179"/>
            <a:ext cx="3838924" cy="5190310"/>
          </a:xfrm>
          <a:prstGeom prst="roundRect">
            <a:avLst>
              <a:gd name="adj" fmla="val 266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77AA2-E26E-AE59-FC83-EAC5D13038C3}"/>
              </a:ext>
            </a:extLst>
          </p:cNvPr>
          <p:cNvSpPr txBox="1"/>
          <p:nvPr/>
        </p:nvSpPr>
        <p:spPr>
          <a:xfrm>
            <a:off x="620794" y="1441697"/>
            <a:ext cx="3309620" cy="244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Stakeholder info is shown in cards.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7B3DC-3E47-C2A7-859D-B43D05B5D3F5}"/>
              </a:ext>
            </a:extLst>
          </p:cNvPr>
          <p:cNvSpPr txBox="1"/>
          <p:nvPr/>
        </p:nvSpPr>
        <p:spPr>
          <a:xfrm>
            <a:off x="620795" y="1849347"/>
            <a:ext cx="3494006" cy="1942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To change the photo</a:t>
            </a:r>
            <a:b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Click twice on the placeholder photo. Navigate to Picture Format &gt; Change Picture. Adjust positioning with the Crop tool if needed.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To change any text</a:t>
            </a:r>
            <a:b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Click on the placeholder text and replace it. Overset text will resize to fit within the card.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3206BE-59D2-B3F0-F2B2-B7D1008FE0E8}"/>
              </a:ext>
            </a:extLst>
          </p:cNvPr>
          <p:cNvSpPr txBox="1"/>
          <p:nvPr/>
        </p:nvSpPr>
        <p:spPr>
          <a:xfrm>
            <a:off x="9162379" y="2096974"/>
            <a:ext cx="2397594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Please familiarize yourself with the deck and ensure the slide is hidden before presenting.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DAFFC1-DE0D-82C0-E5B0-B421EFDDFD74}"/>
              </a:ext>
            </a:extLst>
          </p:cNvPr>
          <p:cNvSpPr txBox="1"/>
          <p:nvPr/>
        </p:nvSpPr>
        <p:spPr>
          <a:xfrm>
            <a:off x="9162379" y="1441697"/>
            <a:ext cx="2405780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This slide is for internal use only.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6A450B-C1E3-15B9-3CFB-DF0973F53B08}"/>
              </a:ext>
            </a:extLst>
          </p:cNvPr>
          <p:cNvSpPr txBox="1"/>
          <p:nvPr/>
        </p:nvSpPr>
        <p:spPr>
          <a:xfrm>
            <a:off x="4597918" y="1441439"/>
            <a:ext cx="3904907" cy="244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These cards are made for a 4x3 grid.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581833-EF80-6EC0-3488-73C74369D3F8}"/>
              </a:ext>
            </a:extLst>
          </p:cNvPr>
          <p:cNvSpPr txBox="1"/>
          <p:nvPr/>
        </p:nvSpPr>
        <p:spPr>
          <a:xfrm>
            <a:off x="4597918" y="1820525"/>
            <a:ext cx="3989345" cy="205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To add cards, copy and paste the template or hold Ctrl and drag the template to create a duplicate.</a:t>
            </a:r>
          </a:p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rPr>
              <a:t>Six or fewer stakeholders?</a:t>
            </a:r>
            <a:b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Leave the top row blank.</a:t>
            </a:r>
          </a:p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accent4"/>
                </a:solidFill>
                <a:latin typeface="+mj-lt"/>
                <a:cs typeface="Times New Roman" panose="02020603050405020304" pitchFamily="18" charset="0"/>
              </a:rPr>
              <a:t>More than nine?</a:t>
            </a:r>
            <a:b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Add another Stakeholder slide, repeating the primary stakeholders, like project leads, who are shown in the sidebar.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86B669-53EF-5D34-8C08-1C33238D1FBE}"/>
              </a:ext>
            </a:extLst>
          </p:cNvPr>
          <p:cNvGrpSpPr/>
          <p:nvPr/>
        </p:nvGrpSpPr>
        <p:grpSpPr>
          <a:xfrm>
            <a:off x="4597105" y="4046328"/>
            <a:ext cx="3904906" cy="2195146"/>
            <a:chOff x="4597105" y="4215506"/>
            <a:chExt cx="3603956" cy="202596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9D962E1-8CE5-FFC5-4A4E-015AC3AB92EB}"/>
                </a:ext>
              </a:extLst>
            </p:cNvPr>
            <p:cNvSpPr/>
            <p:nvPr/>
          </p:nvSpPr>
          <p:spPr>
            <a:xfrm>
              <a:off x="4597917" y="4215506"/>
              <a:ext cx="3603144" cy="20259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39380AD-48A7-BA60-892E-33A70D773E88}"/>
                </a:ext>
              </a:extLst>
            </p:cNvPr>
            <p:cNvSpPr/>
            <p:nvPr/>
          </p:nvSpPr>
          <p:spPr>
            <a:xfrm>
              <a:off x="4597918" y="4215506"/>
              <a:ext cx="899769" cy="202596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35C3B0-2E55-5A1C-D78E-7CDE594E0274}"/>
                </a:ext>
              </a:extLst>
            </p:cNvPr>
            <p:cNvCxnSpPr/>
            <p:nvPr/>
          </p:nvCxnSpPr>
          <p:spPr>
            <a:xfrm>
              <a:off x="4597917" y="4890828"/>
              <a:ext cx="36031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EEC965E-8FAB-7788-EB73-3D8B1DB533BC}"/>
                </a:ext>
              </a:extLst>
            </p:cNvPr>
            <p:cNvCxnSpPr/>
            <p:nvPr/>
          </p:nvCxnSpPr>
          <p:spPr>
            <a:xfrm>
              <a:off x="4597917" y="5566151"/>
              <a:ext cx="36031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591D6CB-FEBB-27D3-F602-7565E69420DE}"/>
                </a:ext>
              </a:extLst>
            </p:cNvPr>
            <p:cNvCxnSpPr/>
            <p:nvPr/>
          </p:nvCxnSpPr>
          <p:spPr>
            <a:xfrm>
              <a:off x="5498500" y="4215506"/>
              <a:ext cx="0" cy="2025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964AEE9-410E-4FC8-B29F-B85A345ED578}"/>
                </a:ext>
              </a:extLst>
            </p:cNvPr>
            <p:cNvCxnSpPr/>
            <p:nvPr/>
          </p:nvCxnSpPr>
          <p:spPr>
            <a:xfrm>
              <a:off x="6399082" y="4215506"/>
              <a:ext cx="0" cy="2025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7815B23-B1DD-407E-BCE7-7ED164020220}"/>
                </a:ext>
              </a:extLst>
            </p:cNvPr>
            <p:cNvCxnSpPr/>
            <p:nvPr/>
          </p:nvCxnSpPr>
          <p:spPr>
            <a:xfrm>
              <a:off x="7299665" y="4215506"/>
              <a:ext cx="0" cy="2025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E292B13-5AB8-54A3-3539-F265AAC8E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7105" y="4290889"/>
              <a:ext cx="900582" cy="503944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7F73A4-FA95-CA13-79C1-ED082BB24D99}"/>
              </a:ext>
            </a:extLst>
          </p:cNvPr>
          <p:cNvSpPr/>
          <p:nvPr/>
        </p:nvSpPr>
        <p:spPr>
          <a:xfrm>
            <a:off x="8941174" y="3952321"/>
            <a:ext cx="2842694" cy="2487168"/>
          </a:xfrm>
          <a:prstGeom prst="roundRect">
            <a:avLst>
              <a:gd name="adj" fmla="val 266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57EBFB-4709-434E-9FC1-6B0E4A9360D9}"/>
              </a:ext>
            </a:extLst>
          </p:cNvPr>
          <p:cNvSpPr txBox="1"/>
          <p:nvPr/>
        </p:nvSpPr>
        <p:spPr>
          <a:xfrm>
            <a:off x="9162379" y="4109179"/>
            <a:ext cx="2397594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Want to go an extra mile on your design?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95C3E-9635-3C7F-3E3C-372A6F2635DC}"/>
              </a:ext>
            </a:extLst>
          </p:cNvPr>
          <p:cNvSpPr txBox="1"/>
          <p:nvPr/>
        </p:nvSpPr>
        <p:spPr>
          <a:xfrm>
            <a:off x="9162379" y="4690534"/>
            <a:ext cx="2397594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Use Shift+Enter to keep the last word of a paragraph from being alone on a line.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86BF0E-DA8E-E055-A7A1-3113506FA84F}"/>
              </a:ext>
            </a:extLst>
          </p:cNvPr>
          <p:cNvGrpSpPr/>
          <p:nvPr/>
        </p:nvGrpSpPr>
        <p:grpSpPr>
          <a:xfrm>
            <a:off x="632027" y="3955474"/>
            <a:ext cx="3044952" cy="2286000"/>
            <a:chOff x="12606528" y="4557588"/>
            <a:chExt cx="3044952" cy="2286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B99960B-F61B-2398-68A6-62ED05EB4243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 Placeholder 55">
              <a:extLst>
                <a:ext uri="{FF2B5EF4-FFF2-40B4-BE49-F238E27FC236}">
                  <a16:creationId xmlns:a16="http://schemas.microsoft.com/office/drawing/2014/main" id="{CAC97CC9-1DF1-9E4F-A05C-6E9EDFE2080F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33" name="Text Placeholder 55">
              <a:extLst>
                <a:ext uri="{FF2B5EF4-FFF2-40B4-BE49-F238E27FC236}">
                  <a16:creationId xmlns:a16="http://schemas.microsoft.com/office/drawing/2014/main" id="{0BC3DB8A-ED8B-AF6B-A384-3DF58CAA3957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34" name="Text Placeholder 55">
              <a:extLst>
                <a:ext uri="{FF2B5EF4-FFF2-40B4-BE49-F238E27FC236}">
                  <a16:creationId xmlns:a16="http://schemas.microsoft.com/office/drawing/2014/main" id="{3FA2A23A-D4B9-C217-0631-DCB3317B603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First Lastname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2028F4-C005-0277-7772-A11895968E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C92F660-7DD5-17CD-6FA7-9216547D2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40" name="Picture Placeholder 60">
              <a:extLst>
                <a:ext uri="{FF2B5EF4-FFF2-40B4-BE49-F238E27FC236}">
                  <a16:creationId xmlns:a16="http://schemas.microsoft.com/office/drawing/2014/main" id="{CDDE60A5-FE8E-4F8A-FAD4-BD1D1F6EF5E5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74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48D29-E91D-B733-80E2-D134CE5C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Rapidly modernize your security posture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25C3EBC-CFB6-671E-90B0-3D77D68B6831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1D6FD-70CC-D0A8-83D9-55106CB2C1CC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6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B5D432E-CEE7-A169-81D0-0153011E4BC7}"/>
              </a:ext>
            </a:extLst>
          </p:cNvPr>
          <p:cNvGrpSpPr/>
          <p:nvPr/>
        </p:nvGrpSpPr>
        <p:grpSpPr>
          <a:xfrm>
            <a:off x="722394" y="1923444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3977F0-09C8-8BC9-6E2F-888DF6132869}"/>
              </a:ext>
            </a:extLst>
          </p:cNvPr>
          <p:cNvGrpSpPr/>
          <p:nvPr/>
        </p:nvGrpSpPr>
        <p:grpSpPr>
          <a:xfrm>
            <a:off x="3602755" y="1923442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212CECD-55A0-051D-A46C-499A72AC953B}"/>
              </a:ext>
            </a:extLst>
          </p:cNvPr>
          <p:cNvGrpSpPr/>
          <p:nvPr/>
        </p:nvGrpSpPr>
        <p:grpSpPr>
          <a:xfrm>
            <a:off x="6483115" y="1923442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D296CE-1BF7-8132-CEC4-A2118876ECD8}"/>
              </a:ext>
            </a:extLst>
          </p:cNvPr>
          <p:cNvGrpSpPr/>
          <p:nvPr/>
        </p:nvGrpSpPr>
        <p:grpSpPr>
          <a:xfrm>
            <a:off x="9363475" y="1923442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7CABB6-30A3-FD5E-3798-AD2E21EE28E5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16" name="check 3" title="Icon of a checkmark with a circle around it">
              <a:extLst>
                <a:ext uri="{FF2B5EF4-FFF2-40B4-BE49-F238E27FC236}">
                  <a16:creationId xmlns:a16="http://schemas.microsoft.com/office/drawing/2014/main" id="{395F2900-BC2D-7CD2-3570-EDB649D1C5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noFill/>
            <a:ln w="15875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7" name="check 3" title="Icon of a checkmark with a circle around it">
              <a:extLst>
                <a:ext uri="{FF2B5EF4-FFF2-40B4-BE49-F238E27FC236}">
                  <a16:creationId xmlns:a16="http://schemas.microsoft.com/office/drawing/2014/main" id="{2C60AC3F-CF3E-60A4-7919-320E65DB72C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1923444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22394" y="3054514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Identify risks to your organization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613733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722394" y="3639730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Identify gaps in your security posture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A55D14B-9C57-ECE2-6967-31287B5F7568}"/>
              </a:ext>
            </a:extLst>
          </p:cNvPr>
          <p:cNvSpPr/>
          <p:nvPr/>
        </p:nvSpPr>
        <p:spPr>
          <a:xfrm>
            <a:off x="402336" y="3667162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0" name="Diamond 109">
            <a:extLst>
              <a:ext uri="{FF2B5EF4-FFF2-40B4-BE49-F238E27FC236}">
                <a16:creationId xmlns:a16="http://schemas.microsoft.com/office/drawing/2014/main" id="{3F8CCEB0-23BE-D2C0-9C1F-5CFE6C0D5AFF}"/>
              </a:ext>
            </a:extLst>
          </p:cNvPr>
          <p:cNvSpPr/>
          <p:nvPr/>
        </p:nvSpPr>
        <p:spPr>
          <a:xfrm>
            <a:off x="402336" y="366716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E455936-B17A-9769-BB09-5CCC6AD0F7F3}"/>
              </a:ext>
            </a:extLst>
          </p:cNvPr>
          <p:cNvSpPr txBox="1"/>
          <p:nvPr/>
        </p:nvSpPr>
        <p:spPr>
          <a:xfrm>
            <a:off x="722394" y="5327450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Set leadership expectations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1839F0DD-6003-508E-D638-407F410FBD64}"/>
              </a:ext>
            </a:extLst>
          </p:cNvPr>
          <p:cNvSpPr/>
          <p:nvPr/>
        </p:nvSpPr>
        <p:spPr>
          <a:xfrm>
            <a:off x="402336" y="4249982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C2DBED7-65E2-65AA-7C65-19602AF4B330}"/>
              </a:ext>
            </a:extLst>
          </p:cNvPr>
          <p:cNvSpPr/>
          <p:nvPr/>
        </p:nvSpPr>
        <p:spPr>
          <a:xfrm>
            <a:off x="402336" y="424998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1923444"/>
            <a:ext cx="0" cy="36576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BB2B2BE-97A3-5519-7998-FB618414B17E}"/>
              </a:ext>
            </a:extLst>
          </p:cNvPr>
          <p:cNvSpPr txBox="1"/>
          <p:nvPr/>
        </p:nvSpPr>
        <p:spPr>
          <a:xfrm>
            <a:off x="3602754" y="3978439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basic hygiene practices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3" name="Diamond 152">
            <a:extLst>
              <a:ext uri="{FF2B5EF4-FFF2-40B4-BE49-F238E27FC236}">
                <a16:creationId xmlns:a16="http://schemas.microsoft.com/office/drawing/2014/main" id="{20E62FE7-645B-BC2B-639E-DC53A68EC59E}"/>
              </a:ext>
            </a:extLst>
          </p:cNvPr>
          <p:cNvSpPr/>
          <p:nvPr/>
        </p:nvSpPr>
        <p:spPr>
          <a:xfrm>
            <a:off x="3282696" y="365344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4" name="Diamond 153">
            <a:extLst>
              <a:ext uri="{FF2B5EF4-FFF2-40B4-BE49-F238E27FC236}">
                <a16:creationId xmlns:a16="http://schemas.microsoft.com/office/drawing/2014/main" id="{EBF7E810-F77C-030D-5596-040D38ED0D9F}"/>
              </a:ext>
            </a:extLst>
          </p:cNvPr>
          <p:cNvSpPr/>
          <p:nvPr/>
        </p:nvSpPr>
        <p:spPr>
          <a:xfrm>
            <a:off x="3282696" y="36534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1923444"/>
            <a:ext cx="0" cy="36576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26633AE-1656-2A2D-8108-CB78B6DE48D7}"/>
              </a:ext>
            </a:extLst>
          </p:cNvPr>
          <p:cNvSpPr txBox="1"/>
          <p:nvPr/>
        </p:nvSpPr>
        <p:spPr>
          <a:xfrm>
            <a:off x="6483114" y="3054514"/>
            <a:ext cx="24231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Visualize your security posture using audience-appropriate dashboards</a:t>
            </a:r>
          </a:p>
        </p:txBody>
      </p:sp>
      <p:sp>
        <p:nvSpPr>
          <p:cNvPr id="174" name="Diamond 173">
            <a:extLst>
              <a:ext uri="{FF2B5EF4-FFF2-40B4-BE49-F238E27FC236}">
                <a16:creationId xmlns:a16="http://schemas.microsoft.com/office/drawing/2014/main" id="{A1429146-38A2-5E35-EA2A-0D460978A125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CD08B9F8-BCB9-93A7-41C7-C3ABD7B46A83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24E496A-51F7-D784-8C66-456A6DC0E0AE}"/>
              </a:ext>
            </a:extLst>
          </p:cNvPr>
          <p:cNvSpPr txBox="1"/>
          <p:nvPr/>
        </p:nvSpPr>
        <p:spPr>
          <a:xfrm>
            <a:off x="6483114" y="3897365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Document and manage shadow IT using Microsoft Defender for Cloud Apps</a:t>
            </a:r>
          </a:p>
        </p:txBody>
      </p:sp>
      <p:sp>
        <p:nvSpPr>
          <p:cNvPr id="173" name="Diamond 172">
            <a:extLst>
              <a:ext uri="{FF2B5EF4-FFF2-40B4-BE49-F238E27FC236}">
                <a16:creationId xmlns:a16="http://schemas.microsoft.com/office/drawing/2014/main" id="{E969A2B5-8AA8-A22E-31A0-35291547214D}"/>
              </a:ext>
            </a:extLst>
          </p:cNvPr>
          <p:cNvSpPr/>
          <p:nvPr/>
        </p:nvSpPr>
        <p:spPr>
          <a:xfrm>
            <a:off x="6163056" y="470564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1923444"/>
            <a:ext cx="0" cy="36576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Diamond 194">
            <a:extLst>
              <a:ext uri="{FF2B5EF4-FFF2-40B4-BE49-F238E27FC236}">
                <a16:creationId xmlns:a16="http://schemas.microsoft.com/office/drawing/2014/main" id="{EFDBF82A-557E-6EF7-FB33-DD9CD734181F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05936675-F411-74FB-BA70-E6DEA6E4C9AE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34FAB7C-B471-857A-1BBF-4055F38ADD37}"/>
              </a:ext>
            </a:extLst>
          </p:cNvPr>
          <p:cNvSpPr txBox="1"/>
          <p:nvPr/>
        </p:nvSpPr>
        <p:spPr>
          <a:xfrm>
            <a:off x="402336" y="603503"/>
            <a:ext cx="5867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Rapidly modernize your security posture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594795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B1877-1E7C-1FE5-2DB5-30079D7A98FA}"/>
              </a:ext>
            </a:extLst>
          </p:cNvPr>
          <p:cNvSpPr txBox="1"/>
          <p:nvPr/>
        </p:nvSpPr>
        <p:spPr>
          <a:xfrm>
            <a:off x="9363473" y="3056109"/>
            <a:ext cx="256030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Continuously educate users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343E90E-E466-72EC-8DA8-A9BA8AC41661}"/>
              </a:ext>
            </a:extLst>
          </p:cNvPr>
          <p:cNvSpPr/>
          <p:nvPr/>
        </p:nvSpPr>
        <p:spPr>
          <a:xfrm>
            <a:off x="9043416" y="3560493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8447FB7A-274C-4B73-8894-8987049BCB21}"/>
              </a:ext>
            </a:extLst>
          </p:cNvPr>
          <p:cNvSpPr/>
          <p:nvPr/>
        </p:nvSpPr>
        <p:spPr>
          <a:xfrm>
            <a:off x="9043416" y="3560493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9630C-7636-D326-0089-7753DFBFF03C}"/>
              </a:ext>
            </a:extLst>
          </p:cNvPr>
          <p:cNvSpPr txBox="1"/>
          <p:nvPr/>
        </p:nvSpPr>
        <p:spPr>
          <a:xfrm>
            <a:off x="9363474" y="4248839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Continue to manage risk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1FB1A45-CFF5-DAB5-0A8E-38AE414ED240}"/>
              </a:ext>
            </a:extLst>
          </p:cNvPr>
          <p:cNvSpPr/>
          <p:nvPr/>
        </p:nvSpPr>
        <p:spPr>
          <a:xfrm>
            <a:off x="9043416" y="4271115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A2D67D-58B4-86D7-A8E9-176FCB44D947}"/>
              </a:ext>
            </a:extLst>
          </p:cNvPr>
          <p:cNvSpPr txBox="1"/>
          <p:nvPr/>
        </p:nvSpPr>
        <p:spPr>
          <a:xfrm>
            <a:off x="3602754" y="4572982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Times New Roman"/>
              </a:rPr>
              <a:t>Update your </a:t>
            </a:r>
            <a:r>
              <a:rPr lang="en-US" sz="1400" dirty="0">
                <a:solidFill>
                  <a:srgbClr val="FFFFFF"/>
                </a:solidFill>
                <a:latin typeface="Segoe UI"/>
                <a:cs typeface="Times New Roman"/>
              </a:rPr>
              <a:t>scores  from Exposure Management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92E2A6D3-2F04-6895-5DB9-C06859B7E710}"/>
              </a:ext>
            </a:extLst>
          </p:cNvPr>
          <p:cNvSpPr/>
          <p:nvPr/>
        </p:nvSpPr>
        <p:spPr>
          <a:xfrm>
            <a:off x="3287318" y="4015080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D7BC623E-F126-7B19-BFAC-C9CA778AE683}"/>
              </a:ext>
            </a:extLst>
          </p:cNvPr>
          <p:cNvSpPr/>
          <p:nvPr/>
        </p:nvSpPr>
        <p:spPr>
          <a:xfrm>
            <a:off x="3287318" y="401508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53A7BFD9-4FC8-7DE9-D21C-28BFD8760A20}"/>
              </a:ext>
            </a:extLst>
          </p:cNvPr>
          <p:cNvSpPr/>
          <p:nvPr/>
        </p:nvSpPr>
        <p:spPr>
          <a:xfrm>
            <a:off x="3287315" y="460620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DFECEFC3-CA3F-4452-E7A9-99C8C57DB84D}"/>
              </a:ext>
            </a:extLst>
          </p:cNvPr>
          <p:cNvSpPr/>
          <p:nvPr/>
        </p:nvSpPr>
        <p:spPr>
          <a:xfrm>
            <a:off x="3287315" y="460620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91A9DD10-A3FB-EF8B-7568-A611FDD7B736}"/>
              </a:ext>
            </a:extLst>
          </p:cNvPr>
          <p:cNvSpPr/>
          <p:nvPr/>
        </p:nvSpPr>
        <p:spPr>
          <a:xfrm>
            <a:off x="6171078" y="392701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E6D8DE-7929-5713-B1A9-51F2BCE273E8}"/>
              </a:ext>
            </a:extLst>
          </p:cNvPr>
          <p:cNvSpPr txBox="1"/>
          <p:nvPr/>
        </p:nvSpPr>
        <p:spPr>
          <a:xfrm>
            <a:off x="6491136" y="4683242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Develop a methodology for  patching and updating systems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E1221-D325-3EE1-9AD8-965C55DE675A}"/>
              </a:ext>
            </a:extLst>
          </p:cNvPr>
          <p:cNvSpPr txBox="1"/>
          <p:nvPr/>
        </p:nvSpPr>
        <p:spPr>
          <a:xfrm>
            <a:off x="9377332" y="3538399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Evolve your organization’s SecOps capability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FF61BD-C939-A8EE-C4FD-A613FFDB7AA3}"/>
              </a:ext>
            </a:extLst>
          </p:cNvPr>
          <p:cNvSpPr txBox="1"/>
          <p:nvPr/>
        </p:nvSpPr>
        <p:spPr>
          <a:xfrm>
            <a:off x="730416" y="4229565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/>
              </a:rPr>
              <a:t>Capture your initial </a:t>
            </a:r>
            <a:r>
              <a:rPr lang="en-US" sz="1400" dirty="0">
                <a:solidFill>
                  <a:srgbClr val="FFFFFF"/>
                </a:solidFill>
                <a:latin typeface="Segoe UI"/>
                <a:ea typeface="Calibri" panose="020F0502020204030204" pitchFamily="34" charset="0"/>
                <a:cs typeface="Times New Roman"/>
              </a:rPr>
              <a:t>scores from Exposure Management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A9CACE1F-29F2-A186-4E8F-26EDB47CC7B8}"/>
              </a:ext>
            </a:extLst>
          </p:cNvPr>
          <p:cNvSpPr/>
          <p:nvPr/>
        </p:nvSpPr>
        <p:spPr>
          <a:xfrm>
            <a:off x="410358" y="4771348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7F0CB-CE2F-8CB8-D8D4-3800AAB31370}"/>
              </a:ext>
            </a:extLst>
          </p:cNvPr>
          <p:cNvSpPr txBox="1"/>
          <p:nvPr/>
        </p:nvSpPr>
        <p:spPr>
          <a:xfrm>
            <a:off x="3602754" y="3630007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Times New Roman" panose="02020603050405020304" pitchFamily="18" charset="0"/>
              </a:rPr>
              <a:t>Inventory your digital estate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18EFE35D-5DA2-3D63-7A0C-D082E4BA4853}"/>
              </a:ext>
            </a:extLst>
          </p:cNvPr>
          <p:cNvSpPr/>
          <p:nvPr/>
        </p:nvSpPr>
        <p:spPr>
          <a:xfrm>
            <a:off x="3287315" y="3089467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623E717-A386-57A8-22BA-963F063DA265}"/>
              </a:ext>
            </a:extLst>
          </p:cNvPr>
          <p:cNvSpPr/>
          <p:nvPr/>
        </p:nvSpPr>
        <p:spPr>
          <a:xfrm>
            <a:off x="3287315" y="308946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C52601C5-7974-2542-2EA4-C896757B9926}"/>
              </a:ext>
            </a:extLst>
          </p:cNvPr>
          <p:cNvSpPr/>
          <p:nvPr/>
        </p:nvSpPr>
        <p:spPr>
          <a:xfrm>
            <a:off x="402336" y="5334731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5787B-9F3B-B3E8-823C-0823B6F853E9}"/>
              </a:ext>
            </a:extLst>
          </p:cNvPr>
          <p:cNvSpPr txBox="1"/>
          <p:nvPr/>
        </p:nvSpPr>
        <p:spPr>
          <a:xfrm>
            <a:off x="730416" y="4794038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Identify regulatory requirements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EBA900-45C4-F1DE-F150-16ED8D07C4E2}"/>
              </a:ext>
            </a:extLst>
          </p:cNvPr>
          <p:cNvSpPr txBox="1"/>
          <p:nvPr/>
        </p:nvSpPr>
        <p:spPr>
          <a:xfrm>
            <a:off x="3602754" y="5136845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Times New Roman" panose="02020603050405020304" pitchFamily="18" charset="0"/>
              </a:rPr>
              <a:t>Capture your status in Compliance Manager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197458-0BC7-2481-DE96-C722AC1A76E2}"/>
              </a:ext>
            </a:extLst>
          </p:cNvPr>
          <p:cNvSpPr txBox="1"/>
          <p:nvPr/>
        </p:nvSpPr>
        <p:spPr>
          <a:xfrm>
            <a:off x="3634163" y="3025777"/>
            <a:ext cx="256030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Develop a response readiness plan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5DEBA057-D250-8E04-F1BD-E0F9D95BF64B}"/>
              </a:ext>
            </a:extLst>
          </p:cNvPr>
          <p:cNvSpPr/>
          <p:nvPr/>
        </p:nvSpPr>
        <p:spPr>
          <a:xfrm>
            <a:off x="3285811" y="5138843"/>
            <a:ext cx="182881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E4E6E28E-1CF4-274D-A6BE-249CFB9D4F50}"/>
              </a:ext>
            </a:extLst>
          </p:cNvPr>
          <p:cNvSpPr/>
          <p:nvPr/>
        </p:nvSpPr>
        <p:spPr>
          <a:xfrm>
            <a:off x="3285811" y="5138843"/>
            <a:ext cx="182881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F66B7-4C0A-C069-381D-D921BF9A3CB2}"/>
              </a:ext>
            </a:extLst>
          </p:cNvPr>
          <p:cNvSpPr/>
          <p:nvPr/>
        </p:nvSpPr>
        <p:spPr>
          <a:xfrm>
            <a:off x="9135047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94CB3A-1091-2B31-B281-67C46EE73B50}"/>
              </a:ext>
            </a:extLst>
          </p:cNvPr>
          <p:cNvSpPr/>
          <p:nvPr/>
        </p:nvSpPr>
        <p:spPr>
          <a:xfrm>
            <a:off x="33741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130A9C-5DE8-8F78-C5C7-79050A5FB773}"/>
              </a:ext>
            </a:extLst>
          </p:cNvPr>
          <p:cNvSpPr/>
          <p:nvPr/>
        </p:nvSpPr>
        <p:spPr>
          <a:xfrm>
            <a:off x="49377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CEEBAF-E582-70BD-EFD9-4D7A33706682}"/>
              </a:ext>
            </a:extLst>
          </p:cNvPr>
          <p:cNvSpPr/>
          <p:nvPr/>
        </p:nvSpPr>
        <p:spPr>
          <a:xfrm>
            <a:off x="63459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7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Overall engagement, resources, timeline and schedule, communications, and other elements.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9075304" y="2498512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The strategy for protecting organization data on devices, including managing devices</a:t>
              </a: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Device management architect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0CF972A-F227-53BB-59A3-1B4BBEAC9941}"/>
              </a:ext>
            </a:extLst>
          </p:cNvPr>
          <p:cNvGrpSpPr/>
          <p:nvPr/>
        </p:nvGrpSpPr>
        <p:grpSpPr>
          <a:xfrm>
            <a:off x="6058529" y="4672314"/>
            <a:ext cx="3044952" cy="2286000"/>
            <a:chOff x="9147048" y="4572000"/>
            <a:chExt cx="3044952" cy="2286000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46482BD-958B-5546-05B6-1AA3EBFBED4D}"/>
                </a:ext>
              </a:extLst>
            </p:cNvPr>
            <p:cNvSpPr/>
            <p:nvPr/>
          </p:nvSpPr>
          <p:spPr>
            <a:xfrm>
              <a:off x="9147048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0" name="Text Placeholder 55">
              <a:extLst>
                <a:ext uri="{FF2B5EF4-FFF2-40B4-BE49-F238E27FC236}">
                  <a16:creationId xmlns:a16="http://schemas.microsoft.com/office/drawing/2014/main" id="{ACFA086A-9FF0-5F19-7E7B-E20DC784A0B8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Tenant </a:t>
              </a:r>
              <a:r>
                <a:rPr kumimoji="0" lang="en-US" sz="1200" b="0" i="0" u="none" strike="noStrike" kern="1200" cap="none" spc="0" normalizeH="0" baseline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environment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(</a:t>
              </a:r>
              <a:r>
                <a:rPr kumimoji="0" lang="en-US" sz="1200" b="0" i="0" u="none" strike="noStrike" kern="1200" cap="none" spc="0" normalizeH="0" baseline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preparation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, </a:t>
              </a:r>
              <a:r>
                <a:rPr kumimoji="0" lang="en-US" sz="1200" b="0" i="0" u="none" strike="noStrike" kern="1200" cap="none" spc="0" normalizeH="0" baseline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testing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, configuration).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1" name="Text Placeholder 55">
              <a:extLst>
                <a:ext uri="{FF2B5EF4-FFF2-40B4-BE49-F238E27FC236}">
                  <a16:creationId xmlns:a16="http://schemas.microsoft.com/office/drawing/2014/main" id="{8B8D3F80-3F67-C6F8-0BDE-EBF8A692683F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Services admins</a:t>
              </a:r>
            </a:p>
          </p:txBody>
        </p:sp>
        <p:sp>
          <p:nvSpPr>
            <p:cNvPr id="382" name="Text Placeholder 55">
              <a:extLst>
                <a:ext uri="{FF2B5EF4-FFF2-40B4-BE49-F238E27FC236}">
                  <a16:creationId xmlns:a16="http://schemas.microsoft.com/office/drawing/2014/main" id="{A1FD8693-277E-9B2A-156D-DD52C6A4F91E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155CC9B3-F8B9-CA00-8F26-5502E0576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3CBBCAB-9BA8-E61D-0C50-B525D4E7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4800600"/>
              <a:ext cx="894101" cy="894101"/>
            </a:xfrm>
            <a:prstGeom prst="ellipse">
              <a:avLst/>
            </a:prstGeom>
          </p:spPr>
        </p:pic>
        <p:sp>
          <p:nvSpPr>
            <p:cNvPr id="385" name="Picture Placeholder 60">
              <a:extLst>
                <a:ext uri="{FF2B5EF4-FFF2-40B4-BE49-F238E27FC236}">
                  <a16:creationId xmlns:a16="http://schemas.microsoft.com/office/drawing/2014/main" id="{7F211891-9E12-F93E-312A-49612D27A51B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Strategy, steering, escalation, approvals, business alignment, and management coordination.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413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Security and governance of identities, devices, and apps. Owns risk and policy determination, tracking and reporting</a:t>
              </a: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3075076" y="254395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Tech requirements, architecture, reviews, decisions, and prioritization</a:t>
              </a:r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Architecture Lead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6058529" y="2522267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Your users’ needs and feedback.</a:t>
              </a: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850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End user security and usability (EUC) lead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A5376-1D31-6864-0A0F-665FC75179B8}"/>
              </a:ext>
            </a:extLst>
          </p:cNvPr>
          <p:cNvGrpSpPr/>
          <p:nvPr/>
        </p:nvGrpSpPr>
        <p:grpSpPr>
          <a:xfrm>
            <a:off x="9086472" y="4664360"/>
            <a:ext cx="3044952" cy="2286000"/>
            <a:chOff x="12606528" y="4557588"/>
            <a:chExt cx="3044952" cy="228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B1C96D-E079-9D4B-9B8E-0AF281628AEE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" name="Text Placeholder 55">
              <a:extLst>
                <a:ext uri="{FF2B5EF4-FFF2-40B4-BE49-F238E27FC236}">
                  <a16:creationId xmlns:a16="http://schemas.microsoft.com/office/drawing/2014/main" id="{B41F3435-23A8-DBB4-0B92-73164DBE7293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Need and feedback from your business units.</a:t>
              </a:r>
            </a:p>
          </p:txBody>
        </p:sp>
        <p:sp>
          <p:nvSpPr>
            <p:cNvPr id="6" name="Text Placeholder 55">
              <a:extLst>
                <a:ext uri="{FF2B5EF4-FFF2-40B4-BE49-F238E27FC236}">
                  <a16:creationId xmlns:a16="http://schemas.microsoft.com/office/drawing/2014/main" id="{885224B8-8A87-A9C7-16C5-3D0AA9B3EA67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Business Unit Representative</a:t>
              </a:r>
            </a:p>
          </p:txBody>
        </p:sp>
        <p:sp>
          <p:nvSpPr>
            <p:cNvPr id="7" name="Text Placeholder 55">
              <a:extLst>
                <a:ext uri="{FF2B5EF4-FFF2-40B4-BE49-F238E27FC236}">
                  <a16:creationId xmlns:a16="http://schemas.microsoft.com/office/drawing/2014/main" id="{3F8EBE54-3C8C-CF84-61A7-7B6498042BE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CAD8517-2033-EA64-6C42-D81D1B39B5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53A67A-E783-8DDF-B56A-4A3F7BE90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10" name="Picture Placeholder 60">
              <a:extLst>
                <a:ext uri="{FF2B5EF4-FFF2-40B4-BE49-F238E27FC236}">
                  <a16:creationId xmlns:a16="http://schemas.microsoft.com/office/drawing/2014/main" id="{69DA5368-9949-DD31-2BCE-466B23C075A6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92C447-CD12-03ED-55DA-AB105E7F47A4}"/>
              </a:ext>
            </a:extLst>
          </p:cNvPr>
          <p:cNvGrpSpPr/>
          <p:nvPr/>
        </p:nvGrpSpPr>
        <p:grpSpPr>
          <a:xfrm>
            <a:off x="3083770" y="4683337"/>
            <a:ext cx="3044952" cy="2286000"/>
            <a:chOff x="6101080" y="4572000"/>
            <a:chExt cx="3044952" cy="2286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899B5F-183E-C3BE-B1A5-E0691390368C}"/>
                </a:ext>
              </a:extLst>
            </p:cNvPr>
            <p:cNvSpPr/>
            <p:nvPr/>
          </p:nvSpPr>
          <p:spPr>
            <a:xfrm>
              <a:off x="6101080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Text Placeholder 55">
              <a:extLst>
                <a:ext uri="{FF2B5EF4-FFF2-40B4-BE49-F238E27FC236}">
                  <a16:creationId xmlns:a16="http://schemas.microsoft.com/office/drawing/2014/main" id="{7B00A25F-66F6-4626-C9F3-0521FC4A7BFC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b="0" i="0" dirty="0">
                  <a:solidFill>
                    <a:srgbClr val="161616"/>
                  </a:solidFill>
                  <a:effectLst/>
                  <a:latin typeface="Segoe UI" panose="020B0502040204020203" pitchFamily="34" charset="0"/>
                </a:rPr>
                <a:t>Prioritization and tech requirements for app investments, including bringing apps up to standards with modern authentication and Entra Conditional Access policies.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Text Placeholder 55">
              <a:extLst>
                <a:ext uri="{FF2B5EF4-FFF2-40B4-BE49-F238E27FC236}">
                  <a16:creationId xmlns:a16="http://schemas.microsoft.com/office/drawing/2014/main" id="{7613B2C6-1C2E-76CF-FA00-A6A40EC8E9FA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App management lead</a:t>
              </a:r>
            </a:p>
          </p:txBody>
        </p:sp>
        <p:sp>
          <p:nvSpPr>
            <p:cNvPr id="15" name="Text Placeholder 55">
              <a:extLst>
                <a:ext uri="{FF2B5EF4-FFF2-40B4-BE49-F238E27FC236}">
                  <a16:creationId xmlns:a16="http://schemas.microsoft.com/office/drawing/2014/main" id="{C8F9CD17-9D83-5CED-E018-F3B53F1CB808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D6AECE5-46D1-7277-DF67-CEAE8777B0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7AAAD4B-8F4F-7E37-8C1D-40A55CA75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4800600"/>
              <a:ext cx="894101" cy="894101"/>
            </a:xfrm>
            <a:prstGeom prst="ellipse">
              <a:avLst/>
            </a:prstGeom>
          </p:spPr>
        </p:pic>
        <p:sp>
          <p:nvSpPr>
            <p:cNvPr id="18" name="Picture Placeholder 60">
              <a:extLst>
                <a:ext uri="{FF2B5EF4-FFF2-40B4-BE49-F238E27FC236}">
                  <a16:creationId xmlns:a16="http://schemas.microsoft.com/office/drawing/2014/main" id="{D2CAF30C-B21E-F69F-BF80-A6F3405D8338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8289F68F-CFE7-469C-349B-F8E01B12B475}"/>
              </a:ext>
            </a:extLst>
          </p:cNvPr>
          <p:cNvSpPr txBox="1">
            <a:spLocks/>
          </p:cNvSpPr>
          <p:nvPr/>
        </p:nvSpPr>
        <p:spPr>
          <a:xfrm>
            <a:off x="224943" y="482561"/>
            <a:ext cx="2641240" cy="1255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j-ea"/>
                <a:cs typeface="+mj-cs"/>
              </a:rPr>
              <a:t>Security posture stakeholders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j-ea"/>
              <a:cs typeface="+mj-cs"/>
            </a:endParaRPr>
          </a:p>
        </p:txBody>
      </p:sp>
      <p:sp>
        <p:nvSpPr>
          <p:cNvPr id="21" name="Text Placeholder 55">
            <a:extLst>
              <a:ext uri="{FF2B5EF4-FFF2-40B4-BE49-F238E27FC236}">
                <a16:creationId xmlns:a16="http://schemas.microsoft.com/office/drawing/2014/main" id="{05E4C1EF-9586-DF60-70AC-3646BB407CFC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 template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06045C-2D01-7FBE-142B-94D88777547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4621F76-B8B7-27AD-46DD-0596DD4678D0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 Placeholder 55">
              <a:extLst>
                <a:ext uri="{FF2B5EF4-FFF2-40B4-BE49-F238E27FC236}">
                  <a16:creationId xmlns:a16="http://schemas.microsoft.com/office/drawing/2014/main" id="{D6816EB6-DB77-ADE1-698A-C058FAC0DD76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25" name="Text Placeholder 55">
              <a:extLst>
                <a:ext uri="{FF2B5EF4-FFF2-40B4-BE49-F238E27FC236}">
                  <a16:creationId xmlns:a16="http://schemas.microsoft.com/office/drawing/2014/main" id="{32F6CE46-DC1E-94DF-ED4D-E64585EC0E60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26" name="Text Placeholder 55">
              <a:extLst>
                <a:ext uri="{FF2B5EF4-FFF2-40B4-BE49-F238E27FC236}">
                  <a16:creationId xmlns:a16="http://schemas.microsoft.com/office/drawing/2014/main" id="{17725910-09D7-D802-01A6-D75A2ECA1775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9AB2D3B-BB37-10F6-A896-9AF4435B00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FBA3AF8-884E-B5F6-6543-6CA02EDB3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29" name="Picture Placeholder 60">
              <a:extLst>
                <a:ext uri="{FF2B5EF4-FFF2-40B4-BE49-F238E27FC236}">
                  <a16:creationId xmlns:a16="http://schemas.microsoft.com/office/drawing/2014/main" id="{38129F53-81C9-3AAA-EF00-CA4CD88C5D43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425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2C43A-75F8-9A29-090F-3478F9BE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Secure remote and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hybrid work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940D9E-3455-C0AA-3FC9-B68CF02F55D5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8ADE5-9E67-55C7-0F21-7A55FF4C2CA2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7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eck 3" title="Icon of a checkmark with a circle around it">
            <a:extLst>
              <a:ext uri="{FF2B5EF4-FFF2-40B4-BE49-F238E27FC236}">
                <a16:creationId xmlns:a16="http://schemas.microsoft.com/office/drawing/2014/main" id="{3C3F3B1A-6354-46FA-AD05-E315682362F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381933" y="6053328"/>
            <a:ext cx="404683" cy="402336"/>
          </a:xfrm>
          <a:custGeom>
            <a:avLst/>
            <a:gdLst>
              <a:gd name="T0" fmla="*/ 250 w 250"/>
              <a:gd name="T1" fmla="*/ 125 h 250"/>
              <a:gd name="T2" fmla="*/ 125 w 250"/>
              <a:gd name="T3" fmla="*/ 250 h 250"/>
              <a:gd name="T4" fmla="*/ 0 w 250"/>
              <a:gd name="T5" fmla="*/ 125 h 250"/>
              <a:gd name="T6" fmla="*/ 125 w 250"/>
              <a:gd name="T7" fmla="*/ 0 h 250"/>
              <a:gd name="T8" fmla="*/ 250 w 250"/>
              <a:gd name="T9" fmla="*/ 125 h 250"/>
              <a:gd name="T10" fmla="*/ 60 w 250"/>
              <a:gd name="T11" fmla="*/ 125 h 250"/>
              <a:gd name="T12" fmla="*/ 100 w 250"/>
              <a:gd name="T13" fmla="*/ 165 h 250"/>
              <a:gd name="T14" fmla="*/ 190 w 250"/>
              <a:gd name="T15" fmla="*/ 74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250">
                <a:moveTo>
                  <a:pt x="250" y="125"/>
                </a:moveTo>
                <a:cubicBezTo>
                  <a:pt x="250" y="194"/>
                  <a:pt x="194" y="250"/>
                  <a:pt x="125" y="250"/>
                </a:cubicBezTo>
                <a:cubicBezTo>
                  <a:pt x="56" y="250"/>
                  <a:pt x="0" y="194"/>
                  <a:pt x="0" y="125"/>
                </a:cubicBezTo>
                <a:cubicBezTo>
                  <a:pt x="0" y="56"/>
                  <a:pt x="56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close/>
                <a:moveTo>
                  <a:pt x="60" y="125"/>
                </a:moveTo>
                <a:cubicBezTo>
                  <a:pt x="100" y="165"/>
                  <a:pt x="100" y="165"/>
                  <a:pt x="100" y="165"/>
                </a:cubicBezTo>
                <a:cubicBezTo>
                  <a:pt x="190" y="74"/>
                  <a:pt x="190" y="74"/>
                  <a:pt x="190" y="74"/>
                </a:cubicBezTo>
              </a:path>
            </a:pathLst>
          </a:custGeom>
          <a:noFill/>
          <a:ln w="15875" cap="sq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solidFill>
                <a:srgbClr val="282828"/>
              </a:solidFill>
              <a:latin typeface="Segoe U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25E1CF-091E-A4B6-3C2E-3196FF202630}"/>
              </a:ext>
            </a:extLst>
          </p:cNvPr>
          <p:cNvGrpSpPr/>
          <p:nvPr/>
        </p:nvGrpSpPr>
        <p:grpSpPr>
          <a:xfrm>
            <a:off x="722394" y="1923444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6493E-2B0B-BAEF-04F9-8ACD04CE46FD}"/>
              </a:ext>
            </a:extLst>
          </p:cNvPr>
          <p:cNvGrpSpPr/>
          <p:nvPr/>
        </p:nvGrpSpPr>
        <p:grpSpPr>
          <a:xfrm>
            <a:off x="3602755" y="1923442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latin typeface="Segoe UI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sz="882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latin typeface="Segoe U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02702-8472-62FF-C30B-EAEAAE3003A9}"/>
              </a:ext>
            </a:extLst>
          </p:cNvPr>
          <p:cNvGrpSpPr/>
          <p:nvPr/>
        </p:nvGrpSpPr>
        <p:grpSpPr>
          <a:xfrm>
            <a:off x="6483115" y="1923442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CA00443-C1AD-75B2-1A8F-C341C95EF1C6}"/>
              </a:ext>
            </a:extLst>
          </p:cNvPr>
          <p:cNvGrpSpPr/>
          <p:nvPr/>
        </p:nvGrpSpPr>
        <p:grpSpPr>
          <a:xfrm>
            <a:off x="9363475" y="1923442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latin typeface="Segoe UI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sz="882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latin typeface="Segoe UI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F2FBF7-8245-DAE1-1964-900591967230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207" name="check 3" title="Icon of a checkmark with a circle around it">
              <a:extLst>
                <a:ext uri="{FF2B5EF4-FFF2-40B4-BE49-F238E27FC236}">
                  <a16:creationId xmlns:a16="http://schemas.microsoft.com/office/drawing/2014/main" id="{BD34CE1F-4BE5-4937-B1AA-8FFAC5E2E1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solidFill>
                  <a:srgbClr val="282828"/>
                </a:solidFill>
                <a:latin typeface="Segoe UI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1923444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22394" y="3054514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Verify and secure every identity with strong authentication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613733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722394" y="3969985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Integrate SaaS apps with Entra ID for single sign-on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A55D14B-9C57-ECE2-6967-31287B5F7568}"/>
              </a:ext>
            </a:extLst>
          </p:cNvPr>
          <p:cNvSpPr/>
          <p:nvPr/>
        </p:nvSpPr>
        <p:spPr>
          <a:xfrm>
            <a:off x="402336" y="3997417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Diamond 109">
            <a:extLst>
              <a:ext uri="{FF2B5EF4-FFF2-40B4-BE49-F238E27FC236}">
                <a16:creationId xmlns:a16="http://schemas.microsoft.com/office/drawing/2014/main" id="{3F8CCEB0-23BE-D2C0-9C1F-5CFE6C0D5AFF}"/>
              </a:ext>
            </a:extLst>
          </p:cNvPr>
          <p:cNvSpPr/>
          <p:nvPr/>
        </p:nvSpPr>
        <p:spPr>
          <a:xfrm>
            <a:off x="402336" y="399741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1923444"/>
            <a:ext cx="0" cy="36576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BB2B2BE-97A3-5519-7998-FB618414B17E}"/>
              </a:ext>
            </a:extLst>
          </p:cNvPr>
          <p:cNvSpPr txBox="1"/>
          <p:nvPr/>
        </p:nvSpPr>
        <p:spPr>
          <a:xfrm>
            <a:off x="3602754" y="3054514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Register devices with </a:t>
            </a:r>
            <a:b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Entra ID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3" name="Diamond 152">
            <a:extLst>
              <a:ext uri="{FF2B5EF4-FFF2-40B4-BE49-F238E27FC236}">
                <a16:creationId xmlns:a16="http://schemas.microsoft.com/office/drawing/2014/main" id="{20E62FE7-645B-BC2B-639E-DC53A68EC59E}"/>
              </a:ext>
            </a:extLst>
          </p:cNvPr>
          <p:cNvSpPr/>
          <p:nvPr/>
        </p:nvSpPr>
        <p:spPr>
          <a:xfrm>
            <a:off x="3282696" y="308194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Diamond 153">
            <a:extLst>
              <a:ext uri="{FF2B5EF4-FFF2-40B4-BE49-F238E27FC236}">
                <a16:creationId xmlns:a16="http://schemas.microsoft.com/office/drawing/2014/main" id="{EBF7E810-F77C-030D-5596-040D38ED0D9F}"/>
              </a:ext>
            </a:extLst>
          </p:cNvPr>
          <p:cNvSpPr/>
          <p:nvPr/>
        </p:nvSpPr>
        <p:spPr>
          <a:xfrm>
            <a:off x="328269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376284-A3A5-7BC2-62E9-B399F90D443C}"/>
              </a:ext>
            </a:extLst>
          </p:cNvPr>
          <p:cNvSpPr txBox="1"/>
          <p:nvPr/>
        </p:nvSpPr>
        <p:spPr>
          <a:xfrm>
            <a:off x="3602754" y="3736648"/>
            <a:ext cx="24231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Implement Zero Trust starting point identity and device access policies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9" name="Diamond 148">
            <a:extLst>
              <a:ext uri="{FF2B5EF4-FFF2-40B4-BE49-F238E27FC236}">
                <a16:creationId xmlns:a16="http://schemas.microsoft.com/office/drawing/2014/main" id="{D0564810-9C6F-A439-F8E0-9B5CB351F4A3}"/>
              </a:ext>
            </a:extLst>
          </p:cNvPr>
          <p:cNvSpPr/>
          <p:nvPr/>
        </p:nvSpPr>
        <p:spPr>
          <a:xfrm>
            <a:off x="3282696" y="3764080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Diamond 149">
            <a:extLst>
              <a:ext uri="{FF2B5EF4-FFF2-40B4-BE49-F238E27FC236}">
                <a16:creationId xmlns:a16="http://schemas.microsoft.com/office/drawing/2014/main" id="{23A7E667-9388-1044-D30D-E87FC73A4C9B}"/>
              </a:ext>
            </a:extLst>
          </p:cNvPr>
          <p:cNvSpPr/>
          <p:nvPr/>
        </p:nvSpPr>
        <p:spPr>
          <a:xfrm>
            <a:off x="3282696" y="376408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1923444"/>
            <a:ext cx="0" cy="36576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26633AE-1656-2A2D-8108-CB78B6DE48D7}"/>
              </a:ext>
            </a:extLst>
          </p:cNvPr>
          <p:cNvSpPr txBox="1"/>
          <p:nvPr/>
        </p:nvSpPr>
        <p:spPr>
          <a:xfrm>
            <a:off x="6483114" y="3054514"/>
            <a:ext cx="242316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Enroll devices into management and apply recommended security protections</a:t>
            </a:r>
          </a:p>
        </p:txBody>
      </p:sp>
      <p:sp>
        <p:nvSpPr>
          <p:cNvPr id="174" name="Diamond 173">
            <a:extLst>
              <a:ext uri="{FF2B5EF4-FFF2-40B4-BE49-F238E27FC236}">
                <a16:creationId xmlns:a16="http://schemas.microsoft.com/office/drawing/2014/main" id="{A1429146-38A2-5E35-EA2A-0D460978A125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CD08B9F8-BCB9-93A7-41C7-C3ABD7B46A83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1923444"/>
            <a:ext cx="0" cy="36576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E6400DFB-706B-B1CC-512A-C4510048101C}"/>
              </a:ext>
            </a:extLst>
          </p:cNvPr>
          <p:cNvSpPr txBox="1"/>
          <p:nvPr/>
        </p:nvSpPr>
        <p:spPr>
          <a:xfrm>
            <a:off x="9363474" y="3054514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Monitor device configuration drift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EFDBF82A-557E-6EF7-FB33-DD9CD734181F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05936675-F411-74FB-BA70-E6DEA6E4C9AE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668684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0F59-A2FA-D128-1998-F3A0817D5180}"/>
              </a:ext>
            </a:extLst>
          </p:cNvPr>
          <p:cNvSpPr txBox="1"/>
          <p:nvPr/>
        </p:nvSpPr>
        <p:spPr>
          <a:xfrm>
            <a:off x="402336" y="603503"/>
            <a:ext cx="5867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Secure remote and hybrid work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29282-546E-34D6-9511-58307A314398}"/>
              </a:ext>
            </a:extLst>
          </p:cNvPr>
          <p:cNvSpPr txBox="1"/>
          <p:nvPr/>
        </p:nvSpPr>
        <p:spPr>
          <a:xfrm>
            <a:off x="741794" y="4687644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 applications that are deployed use modern authentication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1C38BC7-3175-6C7A-7776-382022DD0FFB}"/>
              </a:ext>
            </a:extLst>
          </p:cNvPr>
          <p:cNvSpPr/>
          <p:nvPr/>
        </p:nvSpPr>
        <p:spPr>
          <a:xfrm>
            <a:off x="402336" y="471507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703DA4A-4DC7-C3CB-AA43-ED291E7853A9}"/>
              </a:ext>
            </a:extLst>
          </p:cNvPr>
          <p:cNvSpPr/>
          <p:nvPr/>
        </p:nvSpPr>
        <p:spPr>
          <a:xfrm>
            <a:off x="402336" y="471507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C275F-359F-7699-4850-9624A893ABDA}"/>
              </a:ext>
            </a:extLst>
          </p:cNvPr>
          <p:cNvSpPr txBox="1"/>
          <p:nvPr/>
        </p:nvSpPr>
        <p:spPr>
          <a:xfrm>
            <a:off x="3605529" y="4653812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Use App Proxy with on-prem apps for single sign-on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465307E1-B384-3E2F-FC52-A123AB8699FB}"/>
              </a:ext>
            </a:extLst>
          </p:cNvPr>
          <p:cNvSpPr/>
          <p:nvPr/>
        </p:nvSpPr>
        <p:spPr>
          <a:xfrm>
            <a:off x="3285471" y="4681244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23058F45-F212-697B-7079-A7F29154F6F3}"/>
              </a:ext>
            </a:extLst>
          </p:cNvPr>
          <p:cNvSpPr/>
          <p:nvPr/>
        </p:nvSpPr>
        <p:spPr>
          <a:xfrm>
            <a:off x="3285471" y="4681244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CF11FE-95F5-DFBB-69DC-8EE812C3EC5D}"/>
              </a:ext>
            </a:extLst>
          </p:cNvPr>
          <p:cNvSpPr txBox="1"/>
          <p:nvPr/>
        </p:nvSpPr>
        <p:spPr>
          <a:xfrm>
            <a:off x="6485889" y="4121299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Allow only compliant and trusted devices to access data 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FCB1A6A-8C3D-A729-4286-124DF016C30E}"/>
              </a:ext>
            </a:extLst>
          </p:cNvPr>
          <p:cNvSpPr/>
          <p:nvPr/>
        </p:nvSpPr>
        <p:spPr>
          <a:xfrm>
            <a:off x="6165831" y="4148731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6802BFA7-9578-4613-CB61-1625355788DA}"/>
              </a:ext>
            </a:extLst>
          </p:cNvPr>
          <p:cNvSpPr/>
          <p:nvPr/>
        </p:nvSpPr>
        <p:spPr>
          <a:xfrm>
            <a:off x="6165831" y="4148731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B26D12-379E-8908-BBEE-5F2994E7BF96}"/>
              </a:ext>
            </a:extLst>
          </p:cNvPr>
          <p:cNvSpPr txBox="1"/>
          <p:nvPr/>
        </p:nvSpPr>
        <p:spPr>
          <a:xfrm>
            <a:off x="9366249" y="3788805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Implement passwordless authentication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29DEE611-F7B0-E892-BA1A-D20201B95036}"/>
              </a:ext>
            </a:extLst>
          </p:cNvPr>
          <p:cNvSpPr/>
          <p:nvPr/>
        </p:nvSpPr>
        <p:spPr>
          <a:xfrm>
            <a:off x="9046191" y="3816237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D3D67329-E7EE-A3AF-4218-45693C4C47DC}"/>
              </a:ext>
            </a:extLst>
          </p:cNvPr>
          <p:cNvSpPr/>
          <p:nvPr/>
        </p:nvSpPr>
        <p:spPr>
          <a:xfrm>
            <a:off x="9046191" y="381623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02C31-FD36-7258-6C21-64D820F4AA0E}"/>
              </a:ext>
            </a:extLst>
          </p:cNvPr>
          <p:cNvSpPr/>
          <p:nvPr/>
        </p:nvSpPr>
        <p:spPr>
          <a:xfrm>
            <a:off x="9135047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6C619-1349-3EAF-659A-EFBF47B15979}"/>
              </a:ext>
            </a:extLst>
          </p:cNvPr>
          <p:cNvSpPr/>
          <p:nvPr/>
        </p:nvSpPr>
        <p:spPr>
          <a:xfrm>
            <a:off x="33741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C8EDD7-565A-15B1-8B96-3C66ABF16DE3}"/>
              </a:ext>
            </a:extLst>
          </p:cNvPr>
          <p:cNvSpPr/>
          <p:nvPr/>
        </p:nvSpPr>
        <p:spPr>
          <a:xfrm>
            <a:off x="49377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05A3BC-422F-976D-DFE8-61F40B35EEAC}"/>
              </a:ext>
            </a:extLst>
          </p:cNvPr>
          <p:cNvSpPr/>
          <p:nvPr/>
        </p:nvSpPr>
        <p:spPr>
          <a:xfrm>
            <a:off x="63459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9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Placeholder 55">
            <a:extLst>
              <a:ext uri="{FF2B5EF4-FFF2-40B4-BE49-F238E27FC236}">
                <a16:creationId xmlns:a16="http://schemas.microsoft.com/office/drawing/2014/main" id="{DDCD6038-2919-17F5-6FB4-9F217D5B96C3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 template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58934B-A25B-C9CB-EAFD-B584C1E89BB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2B5DCA6-4341-03D3-00AE-729915795E06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Text Placeholder 55">
              <a:extLst>
                <a:ext uri="{FF2B5EF4-FFF2-40B4-BE49-F238E27FC236}">
                  <a16:creationId xmlns:a16="http://schemas.microsoft.com/office/drawing/2014/main" id="{B3C95587-8C3F-5D69-7C6E-5935E0737A82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279" name="Text Placeholder 55">
              <a:extLst>
                <a:ext uri="{FF2B5EF4-FFF2-40B4-BE49-F238E27FC236}">
                  <a16:creationId xmlns:a16="http://schemas.microsoft.com/office/drawing/2014/main" id="{7BBDBA45-3ED4-DA5D-5AB7-2D8323903CC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280" name="Text Placeholder 55">
              <a:extLst>
                <a:ext uri="{FF2B5EF4-FFF2-40B4-BE49-F238E27FC236}">
                  <a16:creationId xmlns:a16="http://schemas.microsoft.com/office/drawing/2014/main" id="{F7DF6481-00A8-1262-F801-8645160EA6F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C458EB86-2141-2651-DF67-EC3ECFA09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EA991A45-B783-7157-29E9-58A3AEEF7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351" name="Picture Placeholder 60">
              <a:extLst>
                <a:ext uri="{FF2B5EF4-FFF2-40B4-BE49-F238E27FC236}">
                  <a16:creationId xmlns:a16="http://schemas.microsoft.com/office/drawing/2014/main" id="{0CF7C2AA-5800-A59D-0960-F79E63D09082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>
                  <a:solidFill>
                    <a:schemeClr val="bg1"/>
                  </a:solidFill>
                </a:rPr>
                <a:t>Manage overall engagement, resources, timeline and schedule, communications, etc.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3055112" y="4572000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Implements the strategy for protecting organization data on devices, including managing devices</a:t>
              </a: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Device management architect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53282996-87CC-60FA-7425-87FEEAF6B96E}"/>
              </a:ext>
            </a:extLst>
          </p:cNvPr>
          <p:cNvGrpSpPr/>
          <p:nvPr/>
        </p:nvGrpSpPr>
        <p:grpSpPr>
          <a:xfrm>
            <a:off x="6101080" y="4572000"/>
            <a:ext cx="3044952" cy="2286000"/>
            <a:chOff x="6101080" y="4572000"/>
            <a:chExt cx="3044952" cy="2286000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B9AD4C4-47CC-82DA-29BE-B8266994C113}"/>
                </a:ext>
              </a:extLst>
            </p:cNvPr>
            <p:cNvSpPr/>
            <p:nvPr/>
          </p:nvSpPr>
          <p:spPr>
            <a:xfrm>
              <a:off x="6101080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2" name="Text Placeholder 55">
              <a:extLst>
                <a:ext uri="{FF2B5EF4-FFF2-40B4-BE49-F238E27FC236}">
                  <a16:creationId xmlns:a16="http://schemas.microsoft.com/office/drawing/2014/main" id="{3A145F7D-82E6-996C-CAD9-B5A9575354E4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Tech</a:t>
              </a:r>
              <a:r>
                <a:rPr lang="en-US" dirty="0"/>
                <a:t> requirements, and prioritization of app investments —  bringing apps up to standards with modern authentication and coordinating apps with conditional access rules</a:t>
              </a:r>
              <a:endParaRPr lang="en-US" noProof="0" dirty="0"/>
            </a:p>
          </p:txBody>
        </p:sp>
        <p:sp>
          <p:nvSpPr>
            <p:cNvPr id="373" name="Text Placeholder 55">
              <a:extLst>
                <a:ext uri="{FF2B5EF4-FFF2-40B4-BE49-F238E27FC236}">
                  <a16:creationId xmlns:a16="http://schemas.microsoft.com/office/drawing/2014/main" id="{E20643D1-2416-72FA-29DB-41C3768B7154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App management lead</a:t>
              </a:r>
            </a:p>
          </p:txBody>
        </p:sp>
        <p:sp>
          <p:nvSpPr>
            <p:cNvPr id="374" name="Text Placeholder 55">
              <a:extLst>
                <a:ext uri="{FF2B5EF4-FFF2-40B4-BE49-F238E27FC236}">
                  <a16:creationId xmlns:a16="http://schemas.microsoft.com/office/drawing/2014/main" id="{6837D7DC-B846-EC72-FB20-B3E8169FE501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E7A16CA-B8F8-1DF3-23F3-6BE6FD00AD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178A135B-FE8B-3A7E-753D-09642212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4800600"/>
              <a:ext cx="894101" cy="894101"/>
            </a:xfrm>
            <a:prstGeom prst="ellipse">
              <a:avLst/>
            </a:prstGeom>
          </p:spPr>
        </p:pic>
        <p:sp>
          <p:nvSpPr>
            <p:cNvPr id="377" name="Picture Placeholder 60">
              <a:extLst>
                <a:ext uri="{FF2B5EF4-FFF2-40B4-BE49-F238E27FC236}">
                  <a16:creationId xmlns:a16="http://schemas.microsoft.com/office/drawing/2014/main" id="{09AC3D94-68CE-8AE4-456F-E89A6F9C126C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0CF972A-F227-53BB-59A3-1B4BBEAC9941}"/>
              </a:ext>
            </a:extLst>
          </p:cNvPr>
          <p:cNvGrpSpPr/>
          <p:nvPr/>
        </p:nvGrpSpPr>
        <p:grpSpPr>
          <a:xfrm>
            <a:off x="9147048" y="4572000"/>
            <a:ext cx="3044952" cy="2286000"/>
            <a:chOff x="9147048" y="4572000"/>
            <a:chExt cx="3044952" cy="2286000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46482BD-958B-5546-05B6-1AA3EBFBED4D}"/>
                </a:ext>
              </a:extLst>
            </p:cNvPr>
            <p:cNvSpPr/>
            <p:nvPr/>
          </p:nvSpPr>
          <p:spPr>
            <a:xfrm>
              <a:off x="9147048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0" name="Text Placeholder 55">
              <a:extLst>
                <a:ext uri="{FF2B5EF4-FFF2-40B4-BE49-F238E27FC236}">
                  <a16:creationId xmlns:a16="http://schemas.microsoft.com/office/drawing/2014/main" id="{ACFA086A-9FF0-5F19-7E7B-E20DC784A0B8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Tenant/environment, preparation, configuration, testing</a:t>
              </a:r>
            </a:p>
          </p:txBody>
        </p:sp>
        <p:sp>
          <p:nvSpPr>
            <p:cNvPr id="381" name="Text Placeholder 55">
              <a:extLst>
                <a:ext uri="{FF2B5EF4-FFF2-40B4-BE49-F238E27FC236}">
                  <a16:creationId xmlns:a16="http://schemas.microsoft.com/office/drawing/2014/main" id="{8B8D3F80-3F67-C6F8-0BDE-EBF8A692683F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M365 admins</a:t>
              </a:r>
            </a:p>
          </p:txBody>
        </p:sp>
        <p:sp>
          <p:nvSpPr>
            <p:cNvPr id="382" name="Text Placeholder 55">
              <a:extLst>
                <a:ext uri="{FF2B5EF4-FFF2-40B4-BE49-F238E27FC236}">
                  <a16:creationId xmlns:a16="http://schemas.microsoft.com/office/drawing/2014/main" id="{A1FD8693-277E-9B2A-156D-DD52C6A4F91E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155CC9B3-F8B9-CA00-8F26-5502E0576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3CBBCAB-9BA8-E61D-0C50-B525D4E7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4800600"/>
              <a:ext cx="894101" cy="894101"/>
            </a:xfrm>
            <a:prstGeom prst="ellipse">
              <a:avLst/>
            </a:prstGeom>
          </p:spPr>
        </p:pic>
        <p:sp>
          <p:nvSpPr>
            <p:cNvPr id="385" name="Picture Placeholder 60">
              <a:extLst>
                <a:ext uri="{FF2B5EF4-FFF2-40B4-BE49-F238E27FC236}">
                  <a16:creationId xmlns:a16="http://schemas.microsoft.com/office/drawing/2014/main" id="{7F211891-9E12-F93E-312A-49612D27A51B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Strategy, steering, escalation, approvals, business alignment, management coordination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2860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Security and governance of identities, devices, and apps; risk and policy determination, tracking and reporting</a:t>
              </a: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6101080" y="228600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Tech requirements, architecture, reviews, decisions,</a:t>
              </a:r>
              <a:r>
                <a:rPr lang="en-US" dirty="0"/>
                <a:t> and prioritization</a:t>
              </a:r>
              <a:endParaRPr lang="en-US" noProof="0" dirty="0"/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Arch Lead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9147048" y="2286000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Determines required controls to address tech and architecture requirements; implements these</a:t>
              </a: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Identity architect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49AF64-D150-D757-C759-E2D6EE87A1C6}"/>
              </a:ext>
            </a:extLst>
          </p:cNvPr>
          <p:cNvSpPr txBox="1">
            <a:spLocks/>
          </p:cNvSpPr>
          <p:nvPr/>
        </p:nvSpPr>
        <p:spPr>
          <a:xfrm>
            <a:off x="224943" y="565661"/>
            <a:ext cx="2641240" cy="10895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Secure remote and hybrid work stakeholders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13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48D29-E91D-B733-80E2-D134CE5C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Identify and protect sensitive business data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D252C0-A961-1F65-892A-08CAF342C62C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17D5E-52AD-E0E1-B52C-CB13BD620ABE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65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B5D432E-CEE7-A169-81D0-0153011E4BC7}"/>
              </a:ext>
            </a:extLst>
          </p:cNvPr>
          <p:cNvGrpSpPr/>
          <p:nvPr/>
        </p:nvGrpSpPr>
        <p:grpSpPr>
          <a:xfrm>
            <a:off x="722394" y="1923444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3977F0-09C8-8BC9-6E2F-888DF6132869}"/>
              </a:ext>
            </a:extLst>
          </p:cNvPr>
          <p:cNvGrpSpPr/>
          <p:nvPr/>
        </p:nvGrpSpPr>
        <p:grpSpPr>
          <a:xfrm>
            <a:off x="3602755" y="1923442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latin typeface="Segoe UI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sz="882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latin typeface="Segoe U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212CECD-55A0-051D-A46C-499A72AC953B}"/>
              </a:ext>
            </a:extLst>
          </p:cNvPr>
          <p:cNvGrpSpPr/>
          <p:nvPr/>
        </p:nvGrpSpPr>
        <p:grpSpPr>
          <a:xfrm>
            <a:off x="6483115" y="1923442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D296CE-1BF7-8132-CEC4-A2118876ECD8}"/>
              </a:ext>
            </a:extLst>
          </p:cNvPr>
          <p:cNvGrpSpPr/>
          <p:nvPr/>
        </p:nvGrpSpPr>
        <p:grpSpPr>
          <a:xfrm>
            <a:off x="9363475" y="1923442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latin typeface="Segoe UI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sz="882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latin typeface="Segoe UI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/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dirty="0"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latin typeface="Segoe U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7CABB6-30A3-FD5E-3798-AD2E21EE28E5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16" name="check 3" title="Icon of a checkmark with a circle around it">
              <a:extLst>
                <a:ext uri="{FF2B5EF4-FFF2-40B4-BE49-F238E27FC236}">
                  <a16:creationId xmlns:a16="http://schemas.microsoft.com/office/drawing/2014/main" id="{395F2900-BC2D-7CD2-3570-EDB649D1C5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noFill/>
            <a:ln w="15875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solidFill>
                  <a:srgbClr val="282828"/>
                </a:solidFill>
                <a:latin typeface="Segoe UI"/>
              </a:endParaRPr>
            </a:p>
          </p:txBody>
        </p:sp>
        <p:sp>
          <p:nvSpPr>
            <p:cNvPr id="17" name="check 3" title="Icon of a checkmark with a circle around it">
              <a:extLst>
                <a:ext uri="{FF2B5EF4-FFF2-40B4-BE49-F238E27FC236}">
                  <a16:creationId xmlns:a16="http://schemas.microsoft.com/office/drawing/2014/main" id="{2C60AC3F-CF3E-60A4-7919-320E65DB72C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defTabSz="914314"/>
              <a:endParaRPr lang="en-US" dirty="0">
                <a:solidFill>
                  <a:srgbClr val="282828"/>
                </a:solidFill>
                <a:latin typeface="Segoe UI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1923444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22394" y="3054514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Discover and identify sensitive business data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613733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722394" y="3639730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Discover non-sanctioned SaaS apps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A55D14B-9C57-ECE2-6967-31287B5F7568}"/>
              </a:ext>
            </a:extLst>
          </p:cNvPr>
          <p:cNvSpPr/>
          <p:nvPr/>
        </p:nvSpPr>
        <p:spPr>
          <a:xfrm>
            <a:off x="402336" y="3667162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Diamond 109">
            <a:extLst>
              <a:ext uri="{FF2B5EF4-FFF2-40B4-BE49-F238E27FC236}">
                <a16:creationId xmlns:a16="http://schemas.microsoft.com/office/drawing/2014/main" id="{3F8CCEB0-23BE-D2C0-9C1F-5CFE6C0D5AFF}"/>
              </a:ext>
            </a:extLst>
          </p:cNvPr>
          <p:cNvSpPr/>
          <p:nvPr/>
        </p:nvSpPr>
        <p:spPr>
          <a:xfrm>
            <a:off x="402336" y="366716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E455936-B17A-9769-BB09-5CCC6AD0F7F3}"/>
              </a:ext>
            </a:extLst>
          </p:cNvPr>
          <p:cNvSpPr txBox="1"/>
          <p:nvPr/>
        </p:nvSpPr>
        <p:spPr>
          <a:xfrm>
            <a:off x="722394" y="4222550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Encrypt network communication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1839F0DD-6003-508E-D638-407F410FBD64}"/>
              </a:ext>
            </a:extLst>
          </p:cNvPr>
          <p:cNvSpPr/>
          <p:nvPr/>
        </p:nvSpPr>
        <p:spPr>
          <a:xfrm>
            <a:off x="402336" y="4249982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C2DBED7-65E2-65AA-7C65-19602AF4B330}"/>
              </a:ext>
            </a:extLst>
          </p:cNvPr>
          <p:cNvSpPr/>
          <p:nvPr/>
        </p:nvSpPr>
        <p:spPr>
          <a:xfrm>
            <a:off x="402336" y="424998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1923444"/>
            <a:ext cx="0" cy="36576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BB2B2BE-97A3-5519-7998-FB618414B17E}"/>
              </a:ext>
            </a:extLst>
          </p:cNvPr>
          <p:cNvSpPr txBox="1"/>
          <p:nvPr/>
        </p:nvSpPr>
        <p:spPr>
          <a:xfrm>
            <a:off x="3602754" y="3054514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Develop and test a classification schema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3" name="Diamond 152">
            <a:extLst>
              <a:ext uri="{FF2B5EF4-FFF2-40B4-BE49-F238E27FC236}">
                <a16:creationId xmlns:a16="http://schemas.microsoft.com/office/drawing/2014/main" id="{20E62FE7-645B-BC2B-639E-DC53A68EC59E}"/>
              </a:ext>
            </a:extLst>
          </p:cNvPr>
          <p:cNvSpPr/>
          <p:nvPr/>
        </p:nvSpPr>
        <p:spPr>
          <a:xfrm>
            <a:off x="3282696" y="308194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Diamond 153">
            <a:extLst>
              <a:ext uri="{FF2B5EF4-FFF2-40B4-BE49-F238E27FC236}">
                <a16:creationId xmlns:a16="http://schemas.microsoft.com/office/drawing/2014/main" id="{EBF7E810-F77C-030D-5596-040D38ED0D9F}"/>
              </a:ext>
            </a:extLst>
          </p:cNvPr>
          <p:cNvSpPr/>
          <p:nvPr/>
        </p:nvSpPr>
        <p:spPr>
          <a:xfrm>
            <a:off x="328269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376284-A3A5-7BC2-62E9-B399F90D443C}"/>
              </a:ext>
            </a:extLst>
          </p:cNvPr>
          <p:cNvSpPr txBox="1"/>
          <p:nvPr/>
        </p:nvSpPr>
        <p:spPr>
          <a:xfrm>
            <a:off x="3602754" y="4587355"/>
            <a:ext cx="242316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Set up secure Teams for sharing data internally and externally with business partners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9" name="Diamond 148">
            <a:extLst>
              <a:ext uri="{FF2B5EF4-FFF2-40B4-BE49-F238E27FC236}">
                <a16:creationId xmlns:a16="http://schemas.microsoft.com/office/drawing/2014/main" id="{D0564810-9C6F-A439-F8E0-9B5CB351F4A3}"/>
              </a:ext>
            </a:extLst>
          </p:cNvPr>
          <p:cNvSpPr/>
          <p:nvPr/>
        </p:nvSpPr>
        <p:spPr>
          <a:xfrm>
            <a:off x="3282696" y="4616641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Diamond 149">
            <a:extLst>
              <a:ext uri="{FF2B5EF4-FFF2-40B4-BE49-F238E27FC236}">
                <a16:creationId xmlns:a16="http://schemas.microsoft.com/office/drawing/2014/main" id="{23A7E667-9388-1044-D30D-E87FC73A4C9B}"/>
              </a:ext>
            </a:extLst>
          </p:cNvPr>
          <p:cNvSpPr/>
          <p:nvPr/>
        </p:nvSpPr>
        <p:spPr>
          <a:xfrm>
            <a:off x="3282696" y="4616641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1923444"/>
            <a:ext cx="0" cy="36576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26633AE-1656-2A2D-8108-CB78B6DE48D7}"/>
              </a:ext>
            </a:extLst>
          </p:cNvPr>
          <p:cNvSpPr txBox="1"/>
          <p:nvPr/>
        </p:nvSpPr>
        <p:spPr>
          <a:xfrm>
            <a:off x="6483114" y="3054514"/>
            <a:ext cx="24231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Add protection to labels</a:t>
            </a:r>
          </a:p>
        </p:txBody>
      </p:sp>
      <p:sp>
        <p:nvSpPr>
          <p:cNvPr id="174" name="Diamond 173">
            <a:extLst>
              <a:ext uri="{FF2B5EF4-FFF2-40B4-BE49-F238E27FC236}">
                <a16:creationId xmlns:a16="http://schemas.microsoft.com/office/drawing/2014/main" id="{A1429146-38A2-5E35-EA2A-0D460978A125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CD08B9F8-BCB9-93A7-41C7-C3ABD7B46A83}"/>
              </a:ext>
            </a:extLst>
          </p:cNvPr>
          <p:cNvSpPr/>
          <p:nvPr/>
        </p:nvSpPr>
        <p:spPr>
          <a:xfrm>
            <a:off x="616305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1923444"/>
            <a:ext cx="0" cy="36576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E6400DFB-706B-B1CC-512A-C4510048101C}"/>
              </a:ext>
            </a:extLst>
          </p:cNvPr>
          <p:cNvSpPr txBox="1"/>
          <p:nvPr/>
        </p:nvSpPr>
        <p:spPr>
          <a:xfrm>
            <a:off x="9363473" y="3054514"/>
            <a:ext cx="256030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Extend labels and protection to data in SaaS apps, including DLP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EFDBF82A-557E-6EF7-FB33-DD9CD734181F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05936675-F411-74FB-BA70-E6DEA6E4C9AE}"/>
              </a:ext>
            </a:extLst>
          </p:cNvPr>
          <p:cNvSpPr/>
          <p:nvPr/>
        </p:nvSpPr>
        <p:spPr>
          <a:xfrm>
            <a:off x="904341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34FAB7C-B471-857A-1BBF-4055F38ADD37}"/>
              </a:ext>
            </a:extLst>
          </p:cNvPr>
          <p:cNvSpPr txBox="1"/>
          <p:nvPr/>
        </p:nvSpPr>
        <p:spPr>
          <a:xfrm>
            <a:off x="402336" y="603503"/>
            <a:ext cx="5867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Identify and protect sensitive  business 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594795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B1877-1E7C-1FE5-2DB5-30079D7A98FA}"/>
              </a:ext>
            </a:extLst>
          </p:cNvPr>
          <p:cNvSpPr txBox="1"/>
          <p:nvPr/>
        </p:nvSpPr>
        <p:spPr>
          <a:xfrm>
            <a:off x="9363473" y="3662693"/>
            <a:ext cx="256030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Extend automated classification to all services  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343E90E-E466-72EC-8DA8-A9BA8AC41661}"/>
              </a:ext>
            </a:extLst>
          </p:cNvPr>
          <p:cNvSpPr/>
          <p:nvPr/>
        </p:nvSpPr>
        <p:spPr>
          <a:xfrm>
            <a:off x="9043416" y="3696288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8447FB7A-274C-4B73-8894-8987049BCB21}"/>
              </a:ext>
            </a:extLst>
          </p:cNvPr>
          <p:cNvSpPr/>
          <p:nvPr/>
        </p:nvSpPr>
        <p:spPr>
          <a:xfrm>
            <a:off x="9043416" y="3696288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9630C-7636-D326-0089-7753DFBFF03C}"/>
              </a:ext>
            </a:extLst>
          </p:cNvPr>
          <p:cNvSpPr txBox="1"/>
          <p:nvPr/>
        </p:nvSpPr>
        <p:spPr>
          <a:xfrm>
            <a:off x="9363474" y="4221677"/>
            <a:ext cx="2423160" cy="5875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Extend labels and protection to data in on-premises repositories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1FB1A45-CFF5-DAB5-0A8E-38AE414ED240}"/>
              </a:ext>
            </a:extLst>
          </p:cNvPr>
          <p:cNvSpPr/>
          <p:nvPr/>
        </p:nvSpPr>
        <p:spPr>
          <a:xfrm>
            <a:off x="9043416" y="4243951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9CADD9-F992-3F14-9172-E1568DB3A9BA}"/>
              </a:ext>
            </a:extLst>
          </p:cNvPr>
          <p:cNvSpPr/>
          <p:nvPr/>
        </p:nvSpPr>
        <p:spPr>
          <a:xfrm>
            <a:off x="9135047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C16805-D89D-66DD-CDBA-72CF8CBAEB84}"/>
              </a:ext>
            </a:extLst>
          </p:cNvPr>
          <p:cNvSpPr/>
          <p:nvPr/>
        </p:nvSpPr>
        <p:spPr>
          <a:xfrm>
            <a:off x="33741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421071-1FC9-B6AC-22E9-7B918E2D63E3}"/>
              </a:ext>
            </a:extLst>
          </p:cNvPr>
          <p:cNvSpPr/>
          <p:nvPr/>
        </p:nvSpPr>
        <p:spPr>
          <a:xfrm>
            <a:off x="49377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3E2E0-4D5E-8E5B-7DD1-E1AC11B219E5}"/>
              </a:ext>
            </a:extLst>
          </p:cNvPr>
          <p:cNvSpPr txBox="1"/>
          <p:nvPr/>
        </p:nvSpPr>
        <p:spPr>
          <a:xfrm>
            <a:off x="3602754" y="3642298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Apply labels to data across Microsoft 365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A2D67D-58B4-86D7-A8E9-176FCB44D947}"/>
              </a:ext>
            </a:extLst>
          </p:cNvPr>
          <p:cNvSpPr txBox="1"/>
          <p:nvPr/>
        </p:nvSpPr>
        <p:spPr>
          <a:xfrm>
            <a:off x="3602754" y="4230082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Introduce basic DLP policies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92E2A6D3-2F04-6895-5DB9-C06859B7E710}"/>
              </a:ext>
            </a:extLst>
          </p:cNvPr>
          <p:cNvSpPr/>
          <p:nvPr/>
        </p:nvSpPr>
        <p:spPr>
          <a:xfrm>
            <a:off x="3287318" y="366991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D7BC623E-F126-7B19-BFAC-C9CA778AE683}"/>
              </a:ext>
            </a:extLst>
          </p:cNvPr>
          <p:cNvSpPr/>
          <p:nvPr/>
        </p:nvSpPr>
        <p:spPr>
          <a:xfrm>
            <a:off x="3287318" y="366991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53A7BFD9-4FC8-7DE9-D21C-28BFD8760A20}"/>
              </a:ext>
            </a:extLst>
          </p:cNvPr>
          <p:cNvSpPr/>
          <p:nvPr/>
        </p:nvSpPr>
        <p:spPr>
          <a:xfrm>
            <a:off x="3287315" y="4261042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DFECEFC3-CA3F-4452-E7A9-99C8C57DB84D}"/>
              </a:ext>
            </a:extLst>
          </p:cNvPr>
          <p:cNvSpPr/>
          <p:nvPr/>
        </p:nvSpPr>
        <p:spPr>
          <a:xfrm>
            <a:off x="3287315" y="426104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7A63B-9C1D-4BFE-1817-C569643AFDAD}"/>
              </a:ext>
            </a:extLst>
          </p:cNvPr>
          <p:cNvSpPr txBox="1"/>
          <p:nvPr/>
        </p:nvSpPr>
        <p:spPr>
          <a:xfrm>
            <a:off x="6491136" y="3381823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Introduce automatic &amp; recommended labeling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0A91A23A-AC99-F73F-8622-C707BAF3FE4F}"/>
              </a:ext>
            </a:extLst>
          </p:cNvPr>
          <p:cNvSpPr/>
          <p:nvPr/>
        </p:nvSpPr>
        <p:spPr>
          <a:xfrm>
            <a:off x="6171078" y="342685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6A341F-37A6-CFA4-80D9-4751CA7042D5}"/>
              </a:ext>
            </a:extLst>
          </p:cNvPr>
          <p:cNvSpPr txBox="1"/>
          <p:nvPr/>
        </p:nvSpPr>
        <p:spPr>
          <a:xfrm>
            <a:off x="6491136" y="3943084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Extend DLP policies across Microsoft 365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91A9DD10-A3FB-EF8B-7568-A611FDD7B736}"/>
              </a:ext>
            </a:extLst>
          </p:cNvPr>
          <p:cNvSpPr/>
          <p:nvPr/>
        </p:nvSpPr>
        <p:spPr>
          <a:xfrm>
            <a:off x="6171078" y="397228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E6D8DE-7929-5713-B1A9-51F2BCE273E8}"/>
              </a:ext>
            </a:extLst>
          </p:cNvPr>
          <p:cNvSpPr txBox="1"/>
          <p:nvPr/>
        </p:nvSpPr>
        <p:spPr>
          <a:xfrm>
            <a:off x="6491136" y="4485836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lang="en-US" sz="1400" dirty="0">
                <a:solidFill>
                  <a:schemeClr val="bg1"/>
                </a:solidFill>
                <a:cs typeface="Times New Roman" panose="02020603050405020304" pitchFamily="18" charset="0"/>
              </a:rPr>
              <a:t>Implement key insider risk management policies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801F5326-6E91-40BF-4FC8-2323811FDF3A}"/>
              </a:ext>
            </a:extLst>
          </p:cNvPr>
          <p:cNvSpPr/>
          <p:nvPr/>
        </p:nvSpPr>
        <p:spPr>
          <a:xfrm>
            <a:off x="6171078" y="4515740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6782B1E6-52AA-5AE7-D500-8264B800CFA0}"/>
              </a:ext>
            </a:extLst>
          </p:cNvPr>
          <p:cNvSpPr/>
          <p:nvPr/>
        </p:nvSpPr>
        <p:spPr>
          <a:xfrm>
            <a:off x="6171078" y="451574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E1221-D325-3EE1-9AD8-965C55DE675A}"/>
              </a:ext>
            </a:extLst>
          </p:cNvPr>
          <p:cNvSpPr txBox="1"/>
          <p:nvPr/>
        </p:nvSpPr>
        <p:spPr>
          <a:xfrm>
            <a:off x="9377332" y="5020621"/>
            <a:ext cx="24231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Protect organization data in cloud infrastructure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3B8045CA-D269-40A9-B861-F2C2F4EE10B4}"/>
              </a:ext>
            </a:extLst>
          </p:cNvPr>
          <p:cNvSpPr/>
          <p:nvPr/>
        </p:nvSpPr>
        <p:spPr>
          <a:xfrm>
            <a:off x="9048038" y="5042895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5E1790-8CF9-5558-A6E3-AFA7A9C7331A}"/>
              </a:ext>
            </a:extLst>
          </p:cNvPr>
          <p:cNvSpPr/>
          <p:nvPr/>
        </p:nvSpPr>
        <p:spPr>
          <a:xfrm>
            <a:off x="63459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220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Placeholder 55">
            <a:extLst>
              <a:ext uri="{FF2B5EF4-FFF2-40B4-BE49-F238E27FC236}">
                <a16:creationId xmlns:a16="http://schemas.microsoft.com/office/drawing/2014/main" id="{DDCD6038-2919-17F5-6FB4-9F217D5B96C3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 template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58934B-A25B-C9CB-EAFD-B584C1E89BB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2B5DCA6-4341-03D3-00AE-729915795E06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Text Placeholder 55">
              <a:extLst>
                <a:ext uri="{FF2B5EF4-FFF2-40B4-BE49-F238E27FC236}">
                  <a16:creationId xmlns:a16="http://schemas.microsoft.com/office/drawing/2014/main" id="{B3C95587-8C3F-5D69-7C6E-5935E0737A82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279" name="Text Placeholder 55">
              <a:extLst>
                <a:ext uri="{FF2B5EF4-FFF2-40B4-BE49-F238E27FC236}">
                  <a16:creationId xmlns:a16="http://schemas.microsoft.com/office/drawing/2014/main" id="{7BBDBA45-3ED4-DA5D-5AB7-2D8323903CC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280" name="Text Placeholder 55">
              <a:extLst>
                <a:ext uri="{FF2B5EF4-FFF2-40B4-BE49-F238E27FC236}">
                  <a16:creationId xmlns:a16="http://schemas.microsoft.com/office/drawing/2014/main" id="{F7DF6481-00A8-1262-F801-8645160EA6F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C458EB86-2141-2651-DF67-EC3ECFA09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EA991A45-B783-7157-29E9-58A3AEEF7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351" name="Picture Placeholder 60">
              <a:extLst>
                <a:ext uri="{FF2B5EF4-FFF2-40B4-BE49-F238E27FC236}">
                  <a16:creationId xmlns:a16="http://schemas.microsoft.com/office/drawing/2014/main" id="{0CF7C2AA-5800-A59D-0960-F79E63D09082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>
                  <a:solidFill>
                    <a:schemeClr val="bg1"/>
                  </a:solidFill>
                </a:rPr>
                <a:t>Manage overall engagement, resources, timeline and schedule, communications, etc.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3055112" y="4572000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Data classification and sensitive data identification, controls and remediation</a:t>
              </a: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Information Protection Manager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53282996-87CC-60FA-7425-87FEEAF6B96E}"/>
              </a:ext>
            </a:extLst>
          </p:cNvPr>
          <p:cNvGrpSpPr/>
          <p:nvPr/>
        </p:nvGrpSpPr>
        <p:grpSpPr>
          <a:xfrm>
            <a:off x="6101080" y="4572000"/>
            <a:ext cx="3044952" cy="2286000"/>
            <a:chOff x="6101080" y="4572000"/>
            <a:chExt cx="3044952" cy="2286000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B9AD4C4-47CC-82DA-29BE-B8266994C113}"/>
                </a:ext>
              </a:extLst>
            </p:cNvPr>
            <p:cNvSpPr/>
            <p:nvPr/>
          </p:nvSpPr>
          <p:spPr>
            <a:xfrm>
              <a:off x="6101080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2" name="Text Placeholder 55">
              <a:extLst>
                <a:ext uri="{FF2B5EF4-FFF2-40B4-BE49-F238E27FC236}">
                  <a16:creationId xmlns:a16="http://schemas.microsoft.com/office/drawing/2014/main" id="{3A145F7D-82E6-996C-CAD9-B5A9575354E4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Tech requirements, architecture, reviews, decisions &amp; prioritization</a:t>
              </a:r>
            </a:p>
          </p:txBody>
        </p:sp>
        <p:sp>
          <p:nvSpPr>
            <p:cNvPr id="373" name="Text Placeholder 55">
              <a:extLst>
                <a:ext uri="{FF2B5EF4-FFF2-40B4-BE49-F238E27FC236}">
                  <a16:creationId xmlns:a16="http://schemas.microsoft.com/office/drawing/2014/main" id="{E20643D1-2416-72FA-29DB-41C3768B7154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Arch Lead</a:t>
              </a:r>
            </a:p>
          </p:txBody>
        </p:sp>
        <p:sp>
          <p:nvSpPr>
            <p:cNvPr id="374" name="Text Placeholder 55">
              <a:extLst>
                <a:ext uri="{FF2B5EF4-FFF2-40B4-BE49-F238E27FC236}">
                  <a16:creationId xmlns:a16="http://schemas.microsoft.com/office/drawing/2014/main" id="{6837D7DC-B846-EC72-FB20-B3E8169FE501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E7A16CA-B8F8-1DF3-23F3-6BE6FD00AD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178A135B-FE8B-3A7E-753D-09642212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4800600"/>
              <a:ext cx="894101" cy="894101"/>
            </a:xfrm>
            <a:prstGeom prst="ellipse">
              <a:avLst/>
            </a:prstGeom>
          </p:spPr>
        </p:pic>
        <p:sp>
          <p:nvSpPr>
            <p:cNvPr id="377" name="Picture Placeholder 60">
              <a:extLst>
                <a:ext uri="{FF2B5EF4-FFF2-40B4-BE49-F238E27FC236}">
                  <a16:creationId xmlns:a16="http://schemas.microsoft.com/office/drawing/2014/main" id="{09AC3D94-68CE-8AE4-456F-E89A6F9C126C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0CF972A-F227-53BB-59A3-1B4BBEAC9941}"/>
              </a:ext>
            </a:extLst>
          </p:cNvPr>
          <p:cNvGrpSpPr/>
          <p:nvPr/>
        </p:nvGrpSpPr>
        <p:grpSpPr>
          <a:xfrm>
            <a:off x="9147048" y="4572000"/>
            <a:ext cx="3044952" cy="2286000"/>
            <a:chOff x="9147048" y="4572000"/>
            <a:chExt cx="3044952" cy="2286000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46482BD-958B-5546-05B6-1AA3EBFBED4D}"/>
                </a:ext>
              </a:extLst>
            </p:cNvPr>
            <p:cNvSpPr/>
            <p:nvPr/>
          </p:nvSpPr>
          <p:spPr>
            <a:xfrm>
              <a:off x="9147048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0" name="Text Placeholder 55">
              <a:extLst>
                <a:ext uri="{FF2B5EF4-FFF2-40B4-BE49-F238E27FC236}">
                  <a16:creationId xmlns:a16="http://schemas.microsoft.com/office/drawing/2014/main" id="{ACFA086A-9FF0-5F19-7E7B-E20DC784A0B8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Tenant/environment, preparation, configuration, testing</a:t>
              </a:r>
            </a:p>
          </p:txBody>
        </p:sp>
        <p:sp>
          <p:nvSpPr>
            <p:cNvPr id="381" name="Text Placeholder 55">
              <a:extLst>
                <a:ext uri="{FF2B5EF4-FFF2-40B4-BE49-F238E27FC236}">
                  <a16:creationId xmlns:a16="http://schemas.microsoft.com/office/drawing/2014/main" id="{8B8D3F80-3F67-C6F8-0BDE-EBF8A692683F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M365 admins</a:t>
              </a:r>
            </a:p>
          </p:txBody>
        </p:sp>
        <p:sp>
          <p:nvSpPr>
            <p:cNvPr id="382" name="Text Placeholder 55">
              <a:extLst>
                <a:ext uri="{FF2B5EF4-FFF2-40B4-BE49-F238E27FC236}">
                  <a16:creationId xmlns:a16="http://schemas.microsoft.com/office/drawing/2014/main" id="{A1FD8693-277E-9B2A-156D-DD52C6A4F91E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155CC9B3-F8B9-CA00-8F26-5502E0576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3CBBCAB-9BA8-E61D-0C50-B525D4E7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4800600"/>
              <a:ext cx="894101" cy="894101"/>
            </a:xfrm>
            <a:prstGeom prst="ellipse">
              <a:avLst/>
            </a:prstGeom>
          </p:spPr>
        </p:pic>
        <p:sp>
          <p:nvSpPr>
            <p:cNvPr id="385" name="Picture Placeholder 60">
              <a:extLst>
                <a:ext uri="{FF2B5EF4-FFF2-40B4-BE49-F238E27FC236}">
                  <a16:creationId xmlns:a16="http://schemas.microsoft.com/office/drawing/2014/main" id="{7F211891-9E12-F93E-312A-49612D27A51B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Strategy, steering, escalation, approvals, business alignment, management coordination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2860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Protection and governance of data assets and systems; risk and policy determination, tracking and reporting</a:t>
              </a: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6101080" y="228600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Determines required controls to address compliance and protection requirements</a:t>
              </a:r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IT Compliance Manager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9147048" y="2286000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Investigation and reporting in cooperation with compliance and protection leads</a:t>
              </a: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Investigation and audit roles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01D822-1973-06AF-32F7-062F844F03ED}"/>
              </a:ext>
            </a:extLst>
          </p:cNvPr>
          <p:cNvSpPr txBox="1">
            <a:spLocks/>
          </p:cNvSpPr>
          <p:nvPr/>
        </p:nvSpPr>
        <p:spPr>
          <a:xfrm>
            <a:off x="224943" y="482561"/>
            <a:ext cx="2641240" cy="1255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Information protection stakeholders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299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48D29-E91D-B733-80E2-D134CE5C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Prevent or reduce damage from a breach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D252C0-A961-1F65-892A-08CAF342C62C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17D5E-52AD-E0E1-B52C-CB13BD620ABE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8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eck 3" title="Icon of a checkmark with a circle around it">
            <a:extLst>
              <a:ext uri="{FF2B5EF4-FFF2-40B4-BE49-F238E27FC236}">
                <a16:creationId xmlns:a16="http://schemas.microsoft.com/office/drawing/2014/main" id="{3C3F3B1A-6354-46FA-AD05-E315682362F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381933" y="6053328"/>
            <a:ext cx="404683" cy="402336"/>
          </a:xfrm>
          <a:custGeom>
            <a:avLst/>
            <a:gdLst>
              <a:gd name="T0" fmla="*/ 250 w 250"/>
              <a:gd name="T1" fmla="*/ 125 h 250"/>
              <a:gd name="T2" fmla="*/ 125 w 250"/>
              <a:gd name="T3" fmla="*/ 250 h 250"/>
              <a:gd name="T4" fmla="*/ 0 w 250"/>
              <a:gd name="T5" fmla="*/ 125 h 250"/>
              <a:gd name="T6" fmla="*/ 125 w 250"/>
              <a:gd name="T7" fmla="*/ 0 h 250"/>
              <a:gd name="T8" fmla="*/ 250 w 250"/>
              <a:gd name="T9" fmla="*/ 125 h 250"/>
              <a:gd name="T10" fmla="*/ 60 w 250"/>
              <a:gd name="T11" fmla="*/ 125 h 250"/>
              <a:gd name="T12" fmla="*/ 100 w 250"/>
              <a:gd name="T13" fmla="*/ 165 h 250"/>
              <a:gd name="T14" fmla="*/ 190 w 250"/>
              <a:gd name="T15" fmla="*/ 74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250">
                <a:moveTo>
                  <a:pt x="250" y="125"/>
                </a:moveTo>
                <a:cubicBezTo>
                  <a:pt x="250" y="194"/>
                  <a:pt x="194" y="250"/>
                  <a:pt x="125" y="250"/>
                </a:cubicBezTo>
                <a:cubicBezTo>
                  <a:pt x="56" y="250"/>
                  <a:pt x="0" y="194"/>
                  <a:pt x="0" y="125"/>
                </a:cubicBezTo>
                <a:cubicBezTo>
                  <a:pt x="0" y="56"/>
                  <a:pt x="56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close/>
                <a:moveTo>
                  <a:pt x="60" y="125"/>
                </a:moveTo>
                <a:cubicBezTo>
                  <a:pt x="100" y="165"/>
                  <a:pt x="100" y="165"/>
                  <a:pt x="100" y="165"/>
                </a:cubicBezTo>
                <a:cubicBezTo>
                  <a:pt x="190" y="74"/>
                  <a:pt x="190" y="74"/>
                  <a:pt x="190" y="74"/>
                </a:cubicBezTo>
              </a:path>
            </a:pathLst>
          </a:custGeom>
          <a:noFill/>
          <a:ln w="15875" cap="sq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25E1CF-091E-A4B6-3C2E-3196FF202630}"/>
              </a:ext>
            </a:extLst>
          </p:cNvPr>
          <p:cNvGrpSpPr/>
          <p:nvPr/>
        </p:nvGrpSpPr>
        <p:grpSpPr>
          <a:xfrm>
            <a:off x="722394" y="1923444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6493E-2B0B-BAEF-04F9-8ACD04CE46FD}"/>
              </a:ext>
            </a:extLst>
          </p:cNvPr>
          <p:cNvGrpSpPr/>
          <p:nvPr/>
        </p:nvGrpSpPr>
        <p:grpSpPr>
          <a:xfrm>
            <a:off x="3602755" y="1923442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02702-8472-62FF-C30B-EAEAAE3003A9}"/>
              </a:ext>
            </a:extLst>
          </p:cNvPr>
          <p:cNvGrpSpPr/>
          <p:nvPr/>
        </p:nvGrpSpPr>
        <p:grpSpPr>
          <a:xfrm>
            <a:off x="6483115" y="1923442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CA00443-C1AD-75B2-1A8F-C341C95EF1C6}"/>
              </a:ext>
            </a:extLst>
          </p:cNvPr>
          <p:cNvGrpSpPr/>
          <p:nvPr/>
        </p:nvGrpSpPr>
        <p:grpSpPr>
          <a:xfrm>
            <a:off x="9363475" y="1923442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923444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923442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F2FBF7-8245-DAE1-1964-900591967230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207" name="check 3" title="Icon of a checkmark with a circle around it">
              <a:extLst>
                <a:ext uri="{FF2B5EF4-FFF2-40B4-BE49-F238E27FC236}">
                  <a16:creationId xmlns:a16="http://schemas.microsoft.com/office/drawing/2014/main" id="{BD34CE1F-4BE5-4937-B1AA-8FFAC5E2E1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1923444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22394" y="3054514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Secure privileged accounts</a:t>
            </a: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30819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613733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3561581" y="3047771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Microsoft 365 Backup and Azure Backup for critical business data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B727788-DF01-7BFA-827E-681854353E0A}"/>
              </a:ext>
            </a:extLst>
          </p:cNvPr>
          <p:cNvGrpSpPr/>
          <p:nvPr/>
        </p:nvGrpSpPr>
        <p:grpSpPr>
          <a:xfrm>
            <a:off x="402336" y="3609840"/>
            <a:ext cx="182880" cy="201168"/>
            <a:chOff x="402336" y="3443837"/>
            <a:chExt cx="182880" cy="182880"/>
          </a:xfrm>
        </p:grpSpPr>
        <p:sp>
          <p:nvSpPr>
            <p:cNvPr id="109" name="Diamond 108">
              <a:extLst>
                <a:ext uri="{FF2B5EF4-FFF2-40B4-BE49-F238E27FC236}">
                  <a16:creationId xmlns:a16="http://schemas.microsoft.com/office/drawing/2014/main" id="{0A55D14B-9C57-ECE2-6967-31287B5F7568}"/>
                </a:ext>
              </a:extLst>
            </p:cNvPr>
            <p:cNvSpPr/>
            <p:nvPr/>
          </p:nvSpPr>
          <p:spPr>
            <a:xfrm>
              <a:off x="402336" y="3443837"/>
              <a:ext cx="182880" cy="182880"/>
            </a:xfrm>
            <a:prstGeom prst="diamond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0" name="Diamond 109">
              <a:extLst>
                <a:ext uri="{FF2B5EF4-FFF2-40B4-BE49-F238E27FC236}">
                  <a16:creationId xmlns:a16="http://schemas.microsoft.com/office/drawing/2014/main" id="{3F8CCEB0-23BE-D2C0-9C1F-5CFE6C0D5AFF}"/>
                </a:ext>
              </a:extLst>
            </p:cNvPr>
            <p:cNvSpPr/>
            <p:nvPr/>
          </p:nvSpPr>
          <p:spPr>
            <a:xfrm>
              <a:off x="402336" y="3443837"/>
              <a:ext cx="182880" cy="182880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1923444"/>
            <a:ext cx="0" cy="36576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1923444"/>
            <a:ext cx="0" cy="36576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1923444"/>
            <a:ext cx="0" cy="36576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613733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668684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0F59-A2FA-D128-1998-F3A0817D5180}"/>
              </a:ext>
            </a:extLst>
          </p:cNvPr>
          <p:cNvSpPr txBox="1"/>
          <p:nvPr/>
        </p:nvSpPr>
        <p:spPr>
          <a:xfrm>
            <a:off x="402337" y="603503"/>
            <a:ext cx="667512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Times New Roman" panose="02020603050405020304" pitchFamily="18" charset="0"/>
              </a:rPr>
              <a:t>Implement security breach prevention and recovery infrastructure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29282-546E-34D6-9511-58307A314398}"/>
              </a:ext>
            </a:extLst>
          </p:cNvPr>
          <p:cNvSpPr txBox="1"/>
          <p:nvPr/>
        </p:nvSpPr>
        <p:spPr>
          <a:xfrm>
            <a:off x="722394" y="4123645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Azure Site Recovery for critical workload continuity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4EAB681-81DF-32DC-AEC5-4FE0EFB1755D}"/>
              </a:ext>
            </a:extLst>
          </p:cNvPr>
          <p:cNvGrpSpPr/>
          <p:nvPr/>
        </p:nvGrpSpPr>
        <p:grpSpPr>
          <a:xfrm>
            <a:off x="402336" y="4141396"/>
            <a:ext cx="182880" cy="182880"/>
            <a:chOff x="402336" y="4255696"/>
            <a:chExt cx="182880" cy="182880"/>
          </a:xfrm>
        </p:grpSpPr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C1C38BC7-3175-6C7A-7776-382022DD0FFB}"/>
                </a:ext>
              </a:extLst>
            </p:cNvPr>
            <p:cNvSpPr/>
            <p:nvPr/>
          </p:nvSpPr>
          <p:spPr>
            <a:xfrm>
              <a:off x="402336" y="4255696"/>
              <a:ext cx="182880" cy="182880"/>
            </a:xfrm>
            <a:prstGeom prst="diamond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6703DA4A-4DC7-C3CB-AA43-ED291E7853A9}"/>
                </a:ext>
              </a:extLst>
            </p:cNvPr>
            <p:cNvSpPr/>
            <p:nvPr/>
          </p:nvSpPr>
          <p:spPr>
            <a:xfrm>
              <a:off x="402336" y="4255696"/>
              <a:ext cx="182880" cy="182880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02C31-FD36-7258-6C21-64D820F4AA0E}"/>
              </a:ext>
            </a:extLst>
          </p:cNvPr>
          <p:cNvSpPr/>
          <p:nvPr/>
        </p:nvSpPr>
        <p:spPr>
          <a:xfrm>
            <a:off x="9135047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6C619-1349-3EAF-659A-EFBF47B15979}"/>
              </a:ext>
            </a:extLst>
          </p:cNvPr>
          <p:cNvSpPr/>
          <p:nvPr/>
        </p:nvSpPr>
        <p:spPr>
          <a:xfrm>
            <a:off x="33741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C8EDD7-565A-15B1-8B96-3C66ABF16DE3}"/>
              </a:ext>
            </a:extLst>
          </p:cNvPr>
          <p:cNvSpPr/>
          <p:nvPr/>
        </p:nvSpPr>
        <p:spPr>
          <a:xfrm>
            <a:off x="49377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05A3BC-422F-976D-DFE8-61F40B35EEAC}"/>
              </a:ext>
            </a:extLst>
          </p:cNvPr>
          <p:cNvSpPr/>
          <p:nvPr/>
        </p:nvSpPr>
        <p:spPr>
          <a:xfrm>
            <a:off x="63459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D61C28-4215-A588-A7AB-938DD9C49F7E}"/>
              </a:ext>
            </a:extLst>
          </p:cNvPr>
          <p:cNvSpPr txBox="1"/>
          <p:nvPr/>
        </p:nvSpPr>
        <p:spPr>
          <a:xfrm>
            <a:off x="722394" y="3592952"/>
            <a:ext cx="2423160" cy="23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Segment your network</a:t>
            </a: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C069020-A619-E5ED-2F04-5FB00D278EC0}"/>
              </a:ext>
            </a:extLst>
          </p:cNvPr>
          <p:cNvSpPr/>
          <p:nvPr/>
        </p:nvSpPr>
        <p:spPr>
          <a:xfrm>
            <a:off x="3282695" y="3078673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C2E4B04D-1F7B-C265-6B7E-4B95ACADE0B1}"/>
              </a:ext>
            </a:extLst>
          </p:cNvPr>
          <p:cNvSpPr/>
          <p:nvPr/>
        </p:nvSpPr>
        <p:spPr>
          <a:xfrm>
            <a:off x="3282695" y="3078673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3C999D-EE35-E223-3FEA-FDDF89D591B1}"/>
              </a:ext>
            </a:extLst>
          </p:cNvPr>
          <p:cNvSpPr txBox="1"/>
          <p:nvPr/>
        </p:nvSpPr>
        <p:spPr>
          <a:xfrm>
            <a:off x="3561581" y="3943576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a patching plan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A814B9-797C-5F34-4D38-66DCEC2E8D73}"/>
              </a:ext>
            </a:extLst>
          </p:cNvPr>
          <p:cNvGrpSpPr/>
          <p:nvPr/>
        </p:nvGrpSpPr>
        <p:grpSpPr>
          <a:xfrm>
            <a:off x="3282695" y="3971008"/>
            <a:ext cx="182880" cy="182880"/>
            <a:chOff x="3282695" y="3818608"/>
            <a:chExt cx="182880" cy="182880"/>
          </a:xfrm>
        </p:grpSpPr>
        <p:sp>
          <p:nvSpPr>
            <p:cNvPr id="40" name="Diamond 39">
              <a:extLst>
                <a:ext uri="{FF2B5EF4-FFF2-40B4-BE49-F238E27FC236}">
                  <a16:creationId xmlns:a16="http://schemas.microsoft.com/office/drawing/2014/main" id="{57621A5C-E05A-92BB-6780-27C47D937C71}"/>
                </a:ext>
              </a:extLst>
            </p:cNvPr>
            <p:cNvSpPr/>
            <p:nvPr/>
          </p:nvSpPr>
          <p:spPr>
            <a:xfrm>
              <a:off x="3282695" y="3818608"/>
              <a:ext cx="182880" cy="182880"/>
            </a:xfrm>
            <a:prstGeom prst="diamond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1" name="Diamond 40">
              <a:extLst>
                <a:ext uri="{FF2B5EF4-FFF2-40B4-BE49-F238E27FC236}">
                  <a16:creationId xmlns:a16="http://schemas.microsoft.com/office/drawing/2014/main" id="{465B3AD1-2E77-10E6-14A4-730482E3AADA}"/>
                </a:ext>
              </a:extLst>
            </p:cNvPr>
            <p:cNvSpPr/>
            <p:nvPr/>
          </p:nvSpPr>
          <p:spPr>
            <a:xfrm>
              <a:off x="3282695" y="3818608"/>
              <a:ext cx="182880" cy="182880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247F457-F171-B304-0BD4-75D8755054DA}"/>
              </a:ext>
            </a:extLst>
          </p:cNvPr>
          <p:cNvSpPr txBox="1"/>
          <p:nvPr/>
        </p:nvSpPr>
        <p:spPr>
          <a:xfrm>
            <a:off x="3561581" y="4473530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Create honeypot resources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EACED10-4766-F561-BA2D-705E41EA5FB4}"/>
              </a:ext>
            </a:extLst>
          </p:cNvPr>
          <p:cNvGrpSpPr/>
          <p:nvPr/>
        </p:nvGrpSpPr>
        <p:grpSpPr>
          <a:xfrm>
            <a:off x="3282695" y="4500962"/>
            <a:ext cx="182880" cy="182880"/>
            <a:chOff x="3282695" y="4386662"/>
            <a:chExt cx="182880" cy="182880"/>
          </a:xfrm>
        </p:grpSpPr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BCCBDD67-9B43-8D17-B400-BFF2167221B6}"/>
                </a:ext>
              </a:extLst>
            </p:cNvPr>
            <p:cNvSpPr/>
            <p:nvPr/>
          </p:nvSpPr>
          <p:spPr>
            <a:xfrm>
              <a:off x="3282695" y="4386662"/>
              <a:ext cx="182880" cy="182880"/>
            </a:xfrm>
            <a:prstGeom prst="diamond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4" name="Diamond 43">
              <a:extLst>
                <a:ext uri="{FF2B5EF4-FFF2-40B4-BE49-F238E27FC236}">
                  <a16:creationId xmlns:a16="http://schemas.microsoft.com/office/drawing/2014/main" id="{9CCFCEA9-3B31-D1E2-3428-D073999478E3}"/>
                </a:ext>
              </a:extLst>
            </p:cNvPr>
            <p:cNvSpPr/>
            <p:nvPr/>
          </p:nvSpPr>
          <p:spPr>
            <a:xfrm>
              <a:off x="3282695" y="4386662"/>
              <a:ext cx="182880" cy="182880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499753A-0B53-942E-8D4F-FE2BD04AA382}"/>
              </a:ext>
            </a:extLst>
          </p:cNvPr>
          <p:cNvSpPr txBox="1"/>
          <p:nvPr/>
        </p:nvSpPr>
        <p:spPr>
          <a:xfrm>
            <a:off x="6473949" y="3047968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Microsoft 365 Backup and Azure Backup for all business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9B24E8DF-2446-9417-D2DA-22F013EEC2C0}"/>
              </a:ext>
            </a:extLst>
          </p:cNvPr>
          <p:cNvSpPr/>
          <p:nvPr/>
        </p:nvSpPr>
        <p:spPr>
          <a:xfrm>
            <a:off x="6163054" y="3075400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E3D95F81-EE97-104C-2F49-A62543339EA1}"/>
              </a:ext>
            </a:extLst>
          </p:cNvPr>
          <p:cNvSpPr/>
          <p:nvPr/>
        </p:nvSpPr>
        <p:spPr>
          <a:xfrm>
            <a:off x="6163054" y="307540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5D5435-5E3E-24E4-CBC9-EF74E34E4F83}"/>
              </a:ext>
            </a:extLst>
          </p:cNvPr>
          <p:cNvSpPr txBox="1"/>
          <p:nvPr/>
        </p:nvSpPr>
        <p:spPr>
          <a:xfrm>
            <a:off x="6473949" y="4388052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Gain visibility to network traffic</a:t>
            </a:r>
            <a:endParaRPr kumimoji="0" lang="en-US" sz="1400" b="0" i="0" u="none" strike="sng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FEE71B6F-7D05-79D9-DF89-974B070092F7}"/>
              </a:ext>
            </a:extLst>
          </p:cNvPr>
          <p:cNvSpPr/>
          <p:nvPr/>
        </p:nvSpPr>
        <p:spPr>
          <a:xfrm>
            <a:off x="6163054" y="4366705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A7772159-5BC2-5C68-E1D2-607627E84717}"/>
              </a:ext>
            </a:extLst>
          </p:cNvPr>
          <p:cNvSpPr/>
          <p:nvPr/>
        </p:nvSpPr>
        <p:spPr>
          <a:xfrm>
            <a:off x="6163054" y="4366705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4B76A-A9DA-2E00-3A42-4C9999AB81CC}"/>
              </a:ext>
            </a:extLst>
          </p:cNvPr>
          <p:cNvSpPr txBox="1"/>
          <p:nvPr/>
        </p:nvSpPr>
        <p:spPr>
          <a:xfrm>
            <a:off x="9363471" y="3044695"/>
            <a:ext cx="2423160" cy="136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Discontinue legacy network security technology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Practice threat and BCDR response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4D00F9E3-3FE6-828E-BADE-6FD727DCB2CA}"/>
              </a:ext>
            </a:extLst>
          </p:cNvPr>
          <p:cNvSpPr/>
          <p:nvPr/>
        </p:nvSpPr>
        <p:spPr>
          <a:xfrm>
            <a:off x="9043413" y="3072127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D27FEBE-446A-ED42-75DE-E5648F437D62}"/>
              </a:ext>
            </a:extLst>
          </p:cNvPr>
          <p:cNvSpPr/>
          <p:nvPr/>
        </p:nvSpPr>
        <p:spPr>
          <a:xfrm>
            <a:off x="9043413" y="307212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FBB56-6D18-9072-AEF5-D37BA83B7214}"/>
              </a:ext>
            </a:extLst>
          </p:cNvPr>
          <p:cNvSpPr txBox="1"/>
          <p:nvPr/>
        </p:nvSpPr>
        <p:spPr>
          <a:xfrm>
            <a:off x="722394" y="5060171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Encrypt network communication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ECBC01A8-AA00-7A42-E1FC-88A1B2216D5A}"/>
              </a:ext>
            </a:extLst>
          </p:cNvPr>
          <p:cNvSpPr/>
          <p:nvPr/>
        </p:nvSpPr>
        <p:spPr>
          <a:xfrm>
            <a:off x="402336" y="5065137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8B89F2A2-57CB-BD0F-6A82-0736AABFC106}"/>
              </a:ext>
            </a:extLst>
          </p:cNvPr>
          <p:cNvSpPr/>
          <p:nvPr/>
        </p:nvSpPr>
        <p:spPr>
          <a:xfrm>
            <a:off x="402336" y="506513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D33C4-B932-EF50-3341-0990C3F6C23E}"/>
              </a:ext>
            </a:extLst>
          </p:cNvPr>
          <p:cNvSpPr txBox="1"/>
          <p:nvPr/>
        </p:nvSpPr>
        <p:spPr>
          <a:xfrm>
            <a:off x="3561581" y="4957899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Get started with Microsoft Purview Insider Risk Management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C04276A7-FA60-AC42-36EA-9A3D2F9122B9}"/>
              </a:ext>
            </a:extLst>
          </p:cNvPr>
          <p:cNvSpPr/>
          <p:nvPr/>
        </p:nvSpPr>
        <p:spPr>
          <a:xfrm>
            <a:off x="3273551" y="4958588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C4486913-5A6A-2BB1-4791-05E917E9AB43}"/>
              </a:ext>
            </a:extLst>
          </p:cNvPr>
          <p:cNvSpPr/>
          <p:nvPr/>
        </p:nvSpPr>
        <p:spPr>
          <a:xfrm>
            <a:off x="3273551" y="4958588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5EDB1248-216D-26B7-63C1-0EDDDF78E1D7}"/>
              </a:ext>
            </a:extLst>
          </p:cNvPr>
          <p:cNvSpPr/>
          <p:nvPr/>
        </p:nvSpPr>
        <p:spPr>
          <a:xfrm>
            <a:off x="9038850" y="3649424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FFD990A9-D84A-6C7D-C794-D90B3A20EB01}"/>
              </a:ext>
            </a:extLst>
          </p:cNvPr>
          <p:cNvSpPr/>
          <p:nvPr/>
        </p:nvSpPr>
        <p:spPr>
          <a:xfrm>
            <a:off x="9038850" y="3649424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85ED2-1A7E-06AA-FF4D-452145FD0020}"/>
              </a:ext>
            </a:extLst>
          </p:cNvPr>
          <p:cNvSpPr txBox="1"/>
          <p:nvPr/>
        </p:nvSpPr>
        <p:spPr>
          <a:xfrm>
            <a:off x="6473949" y="4942837"/>
            <a:ext cx="2423160" cy="1020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Design threat and business continuity/disaster recovery (BCDR) response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86DA5D31-BF98-3A84-FE71-45C35A588DE7}"/>
              </a:ext>
            </a:extLst>
          </p:cNvPr>
          <p:cNvSpPr/>
          <p:nvPr/>
        </p:nvSpPr>
        <p:spPr>
          <a:xfrm>
            <a:off x="6165370" y="4975720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7171EAE9-D27B-B6CA-E8FC-B0E36D84AC6E}"/>
              </a:ext>
            </a:extLst>
          </p:cNvPr>
          <p:cNvSpPr/>
          <p:nvPr/>
        </p:nvSpPr>
        <p:spPr>
          <a:xfrm>
            <a:off x="6165370" y="497572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4F11E0-A1A0-404A-71FE-C298A852B95A}"/>
              </a:ext>
            </a:extLst>
          </p:cNvPr>
          <p:cNvSpPr txBox="1"/>
          <p:nvPr/>
        </p:nvSpPr>
        <p:spPr>
          <a:xfrm>
            <a:off x="6473949" y="3833266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Azure Site Recovery for all workloads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EB5DE085-561A-7C71-7351-B2E2B7A84F95}"/>
              </a:ext>
            </a:extLst>
          </p:cNvPr>
          <p:cNvSpPr/>
          <p:nvPr/>
        </p:nvSpPr>
        <p:spPr>
          <a:xfrm>
            <a:off x="6163054" y="3858212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D16EBD2E-A69B-D3F5-B944-98A8E290ED12}"/>
              </a:ext>
            </a:extLst>
          </p:cNvPr>
          <p:cNvSpPr/>
          <p:nvPr/>
        </p:nvSpPr>
        <p:spPr>
          <a:xfrm>
            <a:off x="6163054" y="3858212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37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Placeholder 55">
            <a:extLst>
              <a:ext uri="{FF2B5EF4-FFF2-40B4-BE49-F238E27FC236}">
                <a16:creationId xmlns:a16="http://schemas.microsoft.com/office/drawing/2014/main" id="{DDCD6038-2919-17F5-6FB4-9F217D5B96C3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 template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58934B-A25B-C9CB-EAFD-B584C1E89BB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2B5DCA6-4341-03D3-00AE-729915795E06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Text Placeholder 55">
              <a:extLst>
                <a:ext uri="{FF2B5EF4-FFF2-40B4-BE49-F238E27FC236}">
                  <a16:creationId xmlns:a16="http://schemas.microsoft.com/office/drawing/2014/main" id="{B3C95587-8C3F-5D69-7C6E-5935E0737A82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279" name="Text Placeholder 55">
              <a:extLst>
                <a:ext uri="{FF2B5EF4-FFF2-40B4-BE49-F238E27FC236}">
                  <a16:creationId xmlns:a16="http://schemas.microsoft.com/office/drawing/2014/main" id="{7BBDBA45-3ED4-DA5D-5AB7-2D8323903CC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280" name="Text Placeholder 55">
              <a:extLst>
                <a:ext uri="{FF2B5EF4-FFF2-40B4-BE49-F238E27FC236}">
                  <a16:creationId xmlns:a16="http://schemas.microsoft.com/office/drawing/2014/main" id="{F7DF6481-00A8-1262-F801-8645160EA6F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C458EB86-2141-2651-DF67-EC3ECFA09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EA991A45-B783-7157-29E9-58A3AEEF7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351" name="Picture Placeholder 60">
              <a:extLst>
                <a:ext uri="{FF2B5EF4-FFF2-40B4-BE49-F238E27FC236}">
                  <a16:creationId xmlns:a16="http://schemas.microsoft.com/office/drawing/2014/main" id="{0CF7C2AA-5800-A59D-0960-F79E63D09082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>
                  <a:solidFill>
                    <a:schemeClr val="bg1"/>
                  </a:solidFill>
                </a:rPr>
                <a:t>Manage overall engagement, resources, timeline and schedule, communications, etc.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3055112" y="4572000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Technical requirements and implementation of network security standards and practices</a:t>
              </a: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Network Architect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53282996-87CC-60FA-7425-87FEEAF6B96E}"/>
              </a:ext>
            </a:extLst>
          </p:cNvPr>
          <p:cNvGrpSpPr/>
          <p:nvPr/>
        </p:nvGrpSpPr>
        <p:grpSpPr>
          <a:xfrm>
            <a:off x="6101080" y="4572000"/>
            <a:ext cx="3044952" cy="2286000"/>
            <a:chOff x="6101080" y="4572000"/>
            <a:chExt cx="3044952" cy="2286000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B9AD4C4-47CC-82DA-29BE-B8266994C113}"/>
                </a:ext>
              </a:extLst>
            </p:cNvPr>
            <p:cNvSpPr/>
            <p:nvPr/>
          </p:nvSpPr>
          <p:spPr>
            <a:xfrm>
              <a:off x="6101080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2" name="Text Placeholder 55">
              <a:extLst>
                <a:ext uri="{FF2B5EF4-FFF2-40B4-BE49-F238E27FC236}">
                  <a16:creationId xmlns:a16="http://schemas.microsoft.com/office/drawing/2014/main" id="{3A145F7D-82E6-996C-CAD9-B5A9575354E4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Compliance requirements and determination of insider risks to detect and manage</a:t>
              </a:r>
            </a:p>
          </p:txBody>
        </p:sp>
        <p:sp>
          <p:nvSpPr>
            <p:cNvPr id="373" name="Text Placeholder 55">
              <a:extLst>
                <a:ext uri="{FF2B5EF4-FFF2-40B4-BE49-F238E27FC236}">
                  <a16:creationId xmlns:a16="http://schemas.microsoft.com/office/drawing/2014/main" id="{E20643D1-2416-72FA-29DB-41C3768B7154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Compliance Officers</a:t>
              </a:r>
            </a:p>
          </p:txBody>
        </p:sp>
        <p:sp>
          <p:nvSpPr>
            <p:cNvPr id="374" name="Text Placeholder 55">
              <a:extLst>
                <a:ext uri="{FF2B5EF4-FFF2-40B4-BE49-F238E27FC236}">
                  <a16:creationId xmlns:a16="http://schemas.microsoft.com/office/drawing/2014/main" id="{6837D7DC-B846-EC72-FB20-B3E8169FE501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E7A16CA-B8F8-1DF3-23F3-6BE6FD00AD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178A135B-FE8B-3A7E-753D-09642212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4800600"/>
              <a:ext cx="894101" cy="894101"/>
            </a:xfrm>
            <a:prstGeom prst="ellipse">
              <a:avLst/>
            </a:prstGeom>
          </p:spPr>
        </p:pic>
        <p:sp>
          <p:nvSpPr>
            <p:cNvPr id="377" name="Picture Placeholder 60">
              <a:extLst>
                <a:ext uri="{FF2B5EF4-FFF2-40B4-BE49-F238E27FC236}">
                  <a16:creationId xmlns:a16="http://schemas.microsoft.com/office/drawing/2014/main" id="{09AC3D94-68CE-8AE4-456F-E89A6F9C126C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0CF972A-F227-53BB-59A3-1B4BBEAC9941}"/>
              </a:ext>
            </a:extLst>
          </p:cNvPr>
          <p:cNvGrpSpPr/>
          <p:nvPr/>
        </p:nvGrpSpPr>
        <p:grpSpPr>
          <a:xfrm>
            <a:off x="9147048" y="4572000"/>
            <a:ext cx="3044952" cy="2286000"/>
            <a:chOff x="9147048" y="4572000"/>
            <a:chExt cx="3044952" cy="2286000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46482BD-958B-5546-05B6-1AA3EBFBED4D}"/>
                </a:ext>
              </a:extLst>
            </p:cNvPr>
            <p:cNvSpPr/>
            <p:nvPr/>
          </p:nvSpPr>
          <p:spPr>
            <a:xfrm>
              <a:off x="9147048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0" name="Text Placeholder 55">
              <a:extLst>
                <a:ext uri="{FF2B5EF4-FFF2-40B4-BE49-F238E27FC236}">
                  <a16:creationId xmlns:a16="http://schemas.microsoft.com/office/drawing/2014/main" id="{ACFA086A-9FF0-5F19-7E7B-E20DC784A0B8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Policy and requirements compliance</a:t>
              </a:r>
            </a:p>
          </p:txBody>
        </p:sp>
        <p:sp>
          <p:nvSpPr>
            <p:cNvPr id="381" name="Text Placeholder 55">
              <a:extLst>
                <a:ext uri="{FF2B5EF4-FFF2-40B4-BE49-F238E27FC236}">
                  <a16:creationId xmlns:a16="http://schemas.microsoft.com/office/drawing/2014/main" id="{8B8D3F80-3F67-C6F8-0BDE-EBF8A692683F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Security Governance Lead</a:t>
              </a:r>
            </a:p>
          </p:txBody>
        </p:sp>
        <p:sp>
          <p:nvSpPr>
            <p:cNvPr id="382" name="Text Placeholder 55">
              <a:extLst>
                <a:ext uri="{FF2B5EF4-FFF2-40B4-BE49-F238E27FC236}">
                  <a16:creationId xmlns:a16="http://schemas.microsoft.com/office/drawing/2014/main" id="{A1FD8693-277E-9B2A-156D-DD52C6A4F91E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155CC9B3-F8B9-CA00-8F26-5502E0576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3CBBCAB-9BA8-E61D-0C50-B525D4E7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4800600"/>
              <a:ext cx="894101" cy="894101"/>
            </a:xfrm>
            <a:prstGeom prst="ellipse">
              <a:avLst/>
            </a:prstGeom>
          </p:spPr>
        </p:pic>
        <p:sp>
          <p:nvSpPr>
            <p:cNvPr id="385" name="Picture Placeholder 60">
              <a:extLst>
                <a:ext uri="{FF2B5EF4-FFF2-40B4-BE49-F238E27FC236}">
                  <a16:creationId xmlns:a16="http://schemas.microsoft.com/office/drawing/2014/main" id="{7F211891-9E12-F93E-312A-49612D27A51B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Strategy, steering, escalation, approvals, business alignment, management coordination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2860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Protection and governance of business digital assets and systems; risk and policy determination, tracking and reporting</a:t>
              </a: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6101080" y="228600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Configuration and standards for identities, networking, and honeypot resources</a:t>
              </a:r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Security Architect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9147048" y="2286000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Configuration and maintenance of honeypot resources, patching and system updates, and BCDR procedures</a:t>
              </a: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IT Lead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01D822-1973-06AF-32F7-062F844F03ED}"/>
              </a:ext>
            </a:extLst>
          </p:cNvPr>
          <p:cNvSpPr txBox="1">
            <a:spLocks/>
          </p:cNvSpPr>
          <p:nvPr/>
        </p:nvSpPr>
        <p:spPr>
          <a:xfrm>
            <a:off x="224943" y="399461"/>
            <a:ext cx="2641240" cy="14219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Times New Roman" panose="02020603050405020304" pitchFamily="18" charset="0"/>
              </a:rPr>
              <a:t>Breach prevention and recovery</a:t>
            </a:r>
            <a:r>
              <a:rPr lang="en-US" sz="2400" dirty="0">
                <a:solidFill>
                  <a:schemeClr val="bg1"/>
                </a:solidFill>
              </a:rPr>
              <a:t> stakeholders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9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eck 3" title="Icon of a checkmark with a circle around it">
            <a:extLst>
              <a:ext uri="{FF2B5EF4-FFF2-40B4-BE49-F238E27FC236}">
                <a16:creationId xmlns:a16="http://schemas.microsoft.com/office/drawing/2014/main" id="{3C3F3B1A-6354-46FA-AD05-E315682362F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381933" y="6053328"/>
            <a:ext cx="404683" cy="402336"/>
          </a:xfrm>
          <a:custGeom>
            <a:avLst/>
            <a:gdLst>
              <a:gd name="T0" fmla="*/ 250 w 250"/>
              <a:gd name="T1" fmla="*/ 125 h 250"/>
              <a:gd name="T2" fmla="*/ 125 w 250"/>
              <a:gd name="T3" fmla="*/ 250 h 250"/>
              <a:gd name="T4" fmla="*/ 0 w 250"/>
              <a:gd name="T5" fmla="*/ 125 h 250"/>
              <a:gd name="T6" fmla="*/ 125 w 250"/>
              <a:gd name="T7" fmla="*/ 0 h 250"/>
              <a:gd name="T8" fmla="*/ 250 w 250"/>
              <a:gd name="T9" fmla="*/ 125 h 250"/>
              <a:gd name="T10" fmla="*/ 60 w 250"/>
              <a:gd name="T11" fmla="*/ 125 h 250"/>
              <a:gd name="T12" fmla="*/ 100 w 250"/>
              <a:gd name="T13" fmla="*/ 165 h 250"/>
              <a:gd name="T14" fmla="*/ 190 w 250"/>
              <a:gd name="T15" fmla="*/ 74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250">
                <a:moveTo>
                  <a:pt x="250" y="125"/>
                </a:moveTo>
                <a:cubicBezTo>
                  <a:pt x="250" y="194"/>
                  <a:pt x="194" y="250"/>
                  <a:pt x="125" y="250"/>
                </a:cubicBezTo>
                <a:cubicBezTo>
                  <a:pt x="56" y="250"/>
                  <a:pt x="0" y="194"/>
                  <a:pt x="0" y="125"/>
                </a:cubicBezTo>
                <a:cubicBezTo>
                  <a:pt x="0" y="56"/>
                  <a:pt x="56" y="0"/>
                  <a:pt x="125" y="0"/>
                </a:cubicBezTo>
                <a:cubicBezTo>
                  <a:pt x="194" y="0"/>
                  <a:pt x="250" y="56"/>
                  <a:pt x="250" y="125"/>
                </a:cubicBezTo>
                <a:close/>
                <a:moveTo>
                  <a:pt x="60" y="125"/>
                </a:moveTo>
                <a:cubicBezTo>
                  <a:pt x="100" y="165"/>
                  <a:pt x="100" y="165"/>
                  <a:pt x="100" y="165"/>
                </a:cubicBezTo>
                <a:cubicBezTo>
                  <a:pt x="190" y="74"/>
                  <a:pt x="190" y="74"/>
                  <a:pt x="190" y="74"/>
                </a:cubicBezTo>
              </a:path>
            </a:pathLst>
          </a:custGeom>
          <a:noFill/>
          <a:ln w="15875" cap="sq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25E1CF-091E-A4B6-3C2E-3196FF202630}"/>
              </a:ext>
            </a:extLst>
          </p:cNvPr>
          <p:cNvGrpSpPr/>
          <p:nvPr/>
        </p:nvGrpSpPr>
        <p:grpSpPr>
          <a:xfrm>
            <a:off x="722394" y="1738721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6493E-2B0B-BAEF-04F9-8ACD04CE46FD}"/>
              </a:ext>
            </a:extLst>
          </p:cNvPr>
          <p:cNvGrpSpPr/>
          <p:nvPr/>
        </p:nvGrpSpPr>
        <p:grpSpPr>
          <a:xfrm>
            <a:off x="3602755" y="1738719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02702-8472-62FF-C30B-EAEAAE3003A9}"/>
              </a:ext>
            </a:extLst>
          </p:cNvPr>
          <p:cNvGrpSpPr/>
          <p:nvPr/>
        </p:nvGrpSpPr>
        <p:grpSpPr>
          <a:xfrm>
            <a:off x="6483115" y="1738719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CA00443-C1AD-75B2-1A8F-C341C95EF1C6}"/>
              </a:ext>
            </a:extLst>
          </p:cNvPr>
          <p:cNvGrpSpPr/>
          <p:nvPr/>
        </p:nvGrpSpPr>
        <p:grpSpPr>
          <a:xfrm>
            <a:off x="9363475" y="1738719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738721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1738721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1738719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F2FBF7-8245-DAE1-1964-900591967230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207" name="check 3" title="Icon of a checkmark with a circle around it">
              <a:extLst>
                <a:ext uri="{FF2B5EF4-FFF2-40B4-BE49-F238E27FC236}">
                  <a16:creationId xmlns:a16="http://schemas.microsoft.com/office/drawing/2014/main" id="{BD34CE1F-4BE5-4937-B1AA-8FFAC5E2E1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1738721"/>
            <a:ext cx="0" cy="418179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22394" y="2860711"/>
            <a:ext cx="2423160" cy="1622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Turn on XDR tools:</a:t>
            </a:r>
          </a:p>
          <a:p>
            <a:pPr>
              <a:lnSpc>
                <a:spcPct val="107000"/>
              </a:lnSpc>
              <a:spcBef>
                <a:spcPts val="400"/>
              </a:spcBef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- Defender for Endpoint</a:t>
            </a:r>
          </a:p>
          <a:p>
            <a:pPr>
              <a:lnSpc>
                <a:spcPct val="107000"/>
              </a:lnSpc>
              <a:spcBef>
                <a:spcPts val="400"/>
              </a:spcBef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- Defender for Office 365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- Microsoft Entra ID Protection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- Defender for Identity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- Defender for Cloud Apps</a:t>
            </a: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2897223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2897223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429010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722394" y="4817318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Investigate and respond to threats using Microsoft Defender XDR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1738721"/>
            <a:ext cx="0" cy="4181792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429010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1738721"/>
            <a:ext cx="0" cy="418179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429010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1738721"/>
            <a:ext cx="0" cy="418179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429010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668684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10F59-A2FA-D128-1998-F3A0817D5180}"/>
              </a:ext>
            </a:extLst>
          </p:cNvPr>
          <p:cNvSpPr txBox="1"/>
          <p:nvPr/>
        </p:nvSpPr>
        <p:spPr>
          <a:xfrm>
            <a:off x="402336" y="603503"/>
            <a:ext cx="5222609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Times New Roman" panose="02020603050405020304" pitchFamily="18" charset="0"/>
              </a:rPr>
              <a:t>Implement threat protection and XDR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1C38BC7-3175-6C7A-7776-382022DD0FFB}"/>
              </a:ext>
            </a:extLst>
          </p:cNvPr>
          <p:cNvSpPr/>
          <p:nvPr/>
        </p:nvSpPr>
        <p:spPr>
          <a:xfrm>
            <a:off x="402336" y="4817318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703DA4A-4DC7-C3CB-AA43-ED291E7853A9}"/>
              </a:ext>
            </a:extLst>
          </p:cNvPr>
          <p:cNvSpPr/>
          <p:nvPr/>
        </p:nvSpPr>
        <p:spPr>
          <a:xfrm>
            <a:off x="402336" y="4817318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02C31-FD36-7258-6C21-64D820F4AA0E}"/>
              </a:ext>
            </a:extLst>
          </p:cNvPr>
          <p:cNvSpPr/>
          <p:nvPr/>
        </p:nvSpPr>
        <p:spPr>
          <a:xfrm>
            <a:off x="9135047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6C619-1349-3EAF-659A-EFBF47B15979}"/>
              </a:ext>
            </a:extLst>
          </p:cNvPr>
          <p:cNvSpPr/>
          <p:nvPr/>
        </p:nvSpPr>
        <p:spPr>
          <a:xfrm flipV="1">
            <a:off x="3374136" y="6480347"/>
            <a:ext cx="2721864" cy="530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C8EDD7-565A-15B1-8B96-3C66ABF16DE3}"/>
              </a:ext>
            </a:extLst>
          </p:cNvPr>
          <p:cNvSpPr/>
          <p:nvPr/>
        </p:nvSpPr>
        <p:spPr>
          <a:xfrm>
            <a:off x="49377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05A3BC-422F-976D-DFE8-61F40B35EEAC}"/>
              </a:ext>
            </a:extLst>
          </p:cNvPr>
          <p:cNvSpPr/>
          <p:nvPr/>
        </p:nvSpPr>
        <p:spPr>
          <a:xfrm>
            <a:off x="6345936" y="653342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D61C28-4215-A588-A7AB-938DD9C49F7E}"/>
              </a:ext>
            </a:extLst>
          </p:cNvPr>
          <p:cNvSpPr txBox="1"/>
          <p:nvPr/>
        </p:nvSpPr>
        <p:spPr>
          <a:xfrm>
            <a:off x="3602753" y="2866518"/>
            <a:ext cx="2423160" cy="495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Turn on Defender for Cloud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C069020-A619-E5ED-2F04-5FB00D278EC0}"/>
              </a:ext>
            </a:extLst>
          </p:cNvPr>
          <p:cNvSpPr/>
          <p:nvPr/>
        </p:nvSpPr>
        <p:spPr>
          <a:xfrm>
            <a:off x="3282695" y="2893950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C2E4B04D-1F7B-C265-6B7E-4B95ACADE0B1}"/>
              </a:ext>
            </a:extLst>
          </p:cNvPr>
          <p:cNvSpPr/>
          <p:nvPr/>
        </p:nvSpPr>
        <p:spPr>
          <a:xfrm>
            <a:off x="3282695" y="289395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3C999D-EE35-E223-3FEA-FDDF89D591B1}"/>
              </a:ext>
            </a:extLst>
          </p:cNvPr>
          <p:cNvSpPr txBox="1"/>
          <p:nvPr/>
        </p:nvSpPr>
        <p:spPr>
          <a:xfrm>
            <a:off x="3602753" y="3410283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Define internal process for security operations (SecOps)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57621A5C-E05A-92BB-6780-27C47D937C71}"/>
              </a:ext>
            </a:extLst>
          </p:cNvPr>
          <p:cNvSpPr/>
          <p:nvPr/>
        </p:nvSpPr>
        <p:spPr>
          <a:xfrm>
            <a:off x="3282695" y="3427949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465B3AD1-2E77-10E6-14A4-730482E3AADA}"/>
              </a:ext>
            </a:extLst>
          </p:cNvPr>
          <p:cNvSpPr/>
          <p:nvPr/>
        </p:nvSpPr>
        <p:spPr>
          <a:xfrm>
            <a:off x="3282695" y="3427949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99753A-0B53-942E-8D4F-FE2BD04AA382}"/>
              </a:ext>
            </a:extLst>
          </p:cNvPr>
          <p:cNvSpPr txBox="1"/>
          <p:nvPr/>
        </p:nvSpPr>
        <p:spPr>
          <a:xfrm>
            <a:off x="6483112" y="2863245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Turn on Defender for IoT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9B24E8DF-2446-9417-D2DA-22F013EEC2C0}"/>
              </a:ext>
            </a:extLst>
          </p:cNvPr>
          <p:cNvSpPr/>
          <p:nvPr/>
        </p:nvSpPr>
        <p:spPr>
          <a:xfrm>
            <a:off x="6163054" y="2890677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E3D95F81-EE97-104C-2F49-A62543339EA1}"/>
              </a:ext>
            </a:extLst>
          </p:cNvPr>
          <p:cNvSpPr/>
          <p:nvPr/>
        </p:nvSpPr>
        <p:spPr>
          <a:xfrm>
            <a:off x="6163054" y="289067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5D5435-5E3E-24E4-CBC9-EF74E34E4F83}"/>
              </a:ext>
            </a:extLst>
          </p:cNvPr>
          <p:cNvSpPr txBox="1"/>
          <p:nvPr/>
        </p:nvSpPr>
        <p:spPr>
          <a:xfrm>
            <a:off x="6483112" y="3466353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Design a Microsoft Sentinel workspace and ingest XDR signals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FEE71B6F-7D05-79D9-DF89-974B070092F7}"/>
              </a:ext>
            </a:extLst>
          </p:cNvPr>
          <p:cNvSpPr/>
          <p:nvPr/>
        </p:nvSpPr>
        <p:spPr>
          <a:xfrm>
            <a:off x="6163054" y="3493785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A7772159-5BC2-5C68-E1D2-607627E84717}"/>
              </a:ext>
            </a:extLst>
          </p:cNvPr>
          <p:cNvSpPr/>
          <p:nvPr/>
        </p:nvSpPr>
        <p:spPr>
          <a:xfrm>
            <a:off x="6163054" y="3493785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5B3D1C-68A6-2708-AD0B-2665058419AF}"/>
              </a:ext>
            </a:extLst>
          </p:cNvPr>
          <p:cNvSpPr txBox="1"/>
          <p:nvPr/>
        </p:nvSpPr>
        <p:spPr>
          <a:xfrm>
            <a:off x="6502512" y="4496375"/>
            <a:ext cx="2423160" cy="213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Proactively hunt for threats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C0A67A66-3DB6-3868-E5CD-B9D5C94A24E6}"/>
              </a:ext>
            </a:extLst>
          </p:cNvPr>
          <p:cNvSpPr/>
          <p:nvPr/>
        </p:nvSpPr>
        <p:spPr>
          <a:xfrm>
            <a:off x="6163054" y="4523807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9F41AFD2-384F-8E90-0C5A-EB937FCC8958}"/>
              </a:ext>
            </a:extLst>
          </p:cNvPr>
          <p:cNvSpPr/>
          <p:nvPr/>
        </p:nvSpPr>
        <p:spPr>
          <a:xfrm>
            <a:off x="6163054" y="4523807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4B76A-A9DA-2E00-3A42-4C9999AB81CC}"/>
              </a:ext>
            </a:extLst>
          </p:cNvPr>
          <p:cNvSpPr txBox="1"/>
          <p:nvPr/>
        </p:nvSpPr>
        <p:spPr>
          <a:xfrm>
            <a:off x="9363471" y="2859972"/>
            <a:ext cx="2423160" cy="44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Evolve SecOps as a discipline in your organization</a:t>
            </a: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4D00F9E3-3FE6-828E-BADE-6FD727DCB2CA}"/>
              </a:ext>
            </a:extLst>
          </p:cNvPr>
          <p:cNvSpPr/>
          <p:nvPr/>
        </p:nvSpPr>
        <p:spPr>
          <a:xfrm>
            <a:off x="9043413" y="2887404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D27FEBE-446A-ED42-75DE-E5648F437D62}"/>
              </a:ext>
            </a:extLst>
          </p:cNvPr>
          <p:cNvSpPr/>
          <p:nvPr/>
        </p:nvSpPr>
        <p:spPr>
          <a:xfrm>
            <a:off x="9043413" y="2887404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F385A2-F707-3B4E-44D5-B72652152F1E}"/>
              </a:ext>
            </a:extLst>
          </p:cNvPr>
          <p:cNvSpPr txBox="1"/>
          <p:nvPr/>
        </p:nvSpPr>
        <p:spPr>
          <a:xfrm>
            <a:off x="9363471" y="3703221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Leverage automation to reduce load on your SecOps analysts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3956CE8C-30B3-05D1-32DE-CC5BBDA551C8}"/>
              </a:ext>
            </a:extLst>
          </p:cNvPr>
          <p:cNvSpPr/>
          <p:nvPr/>
        </p:nvSpPr>
        <p:spPr>
          <a:xfrm>
            <a:off x="9043413" y="3730653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97CBD0CB-0E78-5A47-784D-4AD140F3F84F}"/>
              </a:ext>
            </a:extLst>
          </p:cNvPr>
          <p:cNvSpPr/>
          <p:nvPr/>
        </p:nvSpPr>
        <p:spPr>
          <a:xfrm>
            <a:off x="9043413" y="3730653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3353-34D5-4979-09D8-DB05CF391FBA}"/>
              </a:ext>
            </a:extLst>
          </p:cNvPr>
          <p:cNvSpPr txBox="1"/>
          <p:nvPr/>
        </p:nvSpPr>
        <p:spPr>
          <a:xfrm>
            <a:off x="3602545" y="4109533"/>
            <a:ext cx="2423160" cy="674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Monitor business critical and honeypot resources with XDR tools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46CDA661-6B8F-3642-2ACB-65B2AD218FDE}"/>
              </a:ext>
            </a:extLst>
          </p:cNvPr>
          <p:cNvSpPr/>
          <p:nvPr/>
        </p:nvSpPr>
        <p:spPr>
          <a:xfrm>
            <a:off x="3282487" y="4127199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62AE5D91-19FE-E33A-36AE-33173FE80BB6}"/>
              </a:ext>
            </a:extLst>
          </p:cNvPr>
          <p:cNvSpPr/>
          <p:nvPr/>
        </p:nvSpPr>
        <p:spPr>
          <a:xfrm>
            <a:off x="3282487" y="4127199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182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Placeholder 55">
            <a:extLst>
              <a:ext uri="{FF2B5EF4-FFF2-40B4-BE49-F238E27FC236}">
                <a16:creationId xmlns:a16="http://schemas.microsoft.com/office/drawing/2014/main" id="{DDCD6038-2919-17F5-6FB4-9F217D5B96C3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 template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58934B-A25B-C9CB-EAFD-B584C1E89BB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2B5DCA6-4341-03D3-00AE-729915795E06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Text Placeholder 55">
              <a:extLst>
                <a:ext uri="{FF2B5EF4-FFF2-40B4-BE49-F238E27FC236}">
                  <a16:creationId xmlns:a16="http://schemas.microsoft.com/office/drawing/2014/main" id="{B3C95587-8C3F-5D69-7C6E-5935E0737A82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dirty="0"/>
                <a:t>A description</a:t>
              </a:r>
              <a:r>
                <a:rPr lang="en-US" noProof="0" dirty="0"/>
                <a:t> of their responsibilities pertaining to this project, written in</a:t>
              </a:r>
              <a:r>
                <a:rPr lang="en-US" dirty="0"/>
                <a:t> two to five lines of text.</a:t>
              </a:r>
              <a:endParaRPr lang="en-US" noProof="0" dirty="0"/>
            </a:p>
          </p:txBody>
        </p:sp>
        <p:sp>
          <p:nvSpPr>
            <p:cNvPr id="279" name="Text Placeholder 55">
              <a:extLst>
                <a:ext uri="{FF2B5EF4-FFF2-40B4-BE49-F238E27FC236}">
                  <a16:creationId xmlns:a16="http://schemas.microsoft.com/office/drawing/2014/main" id="{7BBDBA45-3ED4-DA5D-5AB7-2D8323903CC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Role</a:t>
              </a:r>
            </a:p>
          </p:txBody>
        </p:sp>
        <p:sp>
          <p:nvSpPr>
            <p:cNvPr id="280" name="Text Placeholder 55">
              <a:extLst>
                <a:ext uri="{FF2B5EF4-FFF2-40B4-BE49-F238E27FC236}">
                  <a16:creationId xmlns:a16="http://schemas.microsoft.com/office/drawing/2014/main" id="{F7DF6481-00A8-1262-F801-8645160EA6F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C458EB86-2141-2651-DF67-EC3ECFA09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EA991A45-B783-7157-29E9-58A3AEEF7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351" name="Picture Placeholder 60">
              <a:extLst>
                <a:ext uri="{FF2B5EF4-FFF2-40B4-BE49-F238E27FC236}">
                  <a16:creationId xmlns:a16="http://schemas.microsoft.com/office/drawing/2014/main" id="{0CF7C2AA-5800-A59D-0960-F79E63D09082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>
                  <a:solidFill>
                    <a:schemeClr val="bg1"/>
                  </a:solidFill>
                </a:rPr>
                <a:t>Manage overall engagement, resources, timeline and schedule, communications, etc.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3055112" y="4572000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Advise on, implement, and manage business critical and honeypot resources</a:t>
              </a: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Security for IT Lead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Strategy, steering, escalation, approvals, business alignment, management coordination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2860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Protection and governance of business digital assets and systems, tracking and reporting security breaches</a:t>
              </a: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6101080" y="228600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Advise on incident response strategies and practices, and XDR tools and infrastructure</a:t>
              </a:r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Security Architect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9147048" y="2286000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en-US" noProof="0" dirty="0"/>
                <a:t>Implement incident response procedures, XDR infrastructure configuration, incident response automation, and SecOps discipline evolution</a:t>
              </a: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SecOps Lead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01D822-1973-06AF-32F7-062F844F03ED}"/>
              </a:ext>
            </a:extLst>
          </p:cNvPr>
          <p:cNvSpPr txBox="1">
            <a:spLocks/>
          </p:cNvSpPr>
          <p:nvPr/>
        </p:nvSpPr>
        <p:spPr>
          <a:xfrm>
            <a:off x="224943" y="565660"/>
            <a:ext cx="2641240" cy="10895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Times New Roman" panose="02020603050405020304" pitchFamily="18" charset="0"/>
              </a:rPr>
              <a:t>Threat protection and XDR</a:t>
            </a:r>
            <a:r>
              <a:rPr lang="en-US" sz="2400" dirty="0">
                <a:solidFill>
                  <a:schemeClr val="bg1"/>
                </a:solidFill>
              </a:rPr>
              <a:t> stakeholders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3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D48D29-E91D-B733-80E2-D134CE5C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Meet regulatory and compliance requirements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27958D-8621-8C35-C0F1-91F94EBDBC49}"/>
              </a:ext>
            </a:extLst>
          </p:cNvPr>
          <p:cNvSpPr/>
          <p:nvPr/>
        </p:nvSpPr>
        <p:spPr>
          <a:xfrm>
            <a:off x="5867400" y="5010532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BCF01A-80CF-E0FD-390D-8865353AEF6B}"/>
              </a:ext>
            </a:extLst>
          </p:cNvPr>
          <p:cNvSpPr/>
          <p:nvPr/>
        </p:nvSpPr>
        <p:spPr>
          <a:xfrm>
            <a:off x="0" y="5010531"/>
            <a:ext cx="609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203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B5D432E-CEE7-A169-81D0-0153011E4BC7}"/>
              </a:ext>
            </a:extLst>
          </p:cNvPr>
          <p:cNvGrpSpPr/>
          <p:nvPr/>
        </p:nvGrpSpPr>
        <p:grpSpPr>
          <a:xfrm>
            <a:off x="722394" y="2153568"/>
            <a:ext cx="515317" cy="548640"/>
            <a:chOff x="722394" y="2410565"/>
            <a:chExt cx="515317" cy="548640"/>
          </a:xfrm>
        </p:grpSpPr>
        <p:sp>
          <p:nvSpPr>
            <p:cNvPr id="20" name="Shield_EA18" title="Icon of a shield">
              <a:extLst>
                <a:ext uri="{FF2B5EF4-FFF2-40B4-BE49-F238E27FC236}">
                  <a16:creationId xmlns:a16="http://schemas.microsoft.com/office/drawing/2014/main" id="{F800E944-518B-8D6E-5736-B118D0E7C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394" y="2410565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bg2"/>
            </a:solidFill>
            <a:ln w="19050" cap="sq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" name="check" title="Icon of a checkmark">
              <a:extLst>
                <a:ext uri="{FF2B5EF4-FFF2-40B4-BE49-F238E27FC236}">
                  <a16:creationId xmlns:a16="http://schemas.microsoft.com/office/drawing/2014/main" id="{203B3EF3-DDC0-4B42-401C-18F0B14BF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0455" y="2593375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3977F0-09C8-8BC9-6E2F-888DF6132869}"/>
              </a:ext>
            </a:extLst>
          </p:cNvPr>
          <p:cNvGrpSpPr/>
          <p:nvPr/>
        </p:nvGrpSpPr>
        <p:grpSpPr>
          <a:xfrm>
            <a:off x="3602755" y="2153566"/>
            <a:ext cx="515317" cy="548640"/>
            <a:chOff x="3602755" y="2410563"/>
            <a:chExt cx="515317" cy="548640"/>
          </a:xfrm>
        </p:grpSpPr>
        <p:sp>
          <p:nvSpPr>
            <p:cNvPr id="158" name="Shield_EA18" title="Icon of a shield">
              <a:extLst>
                <a:ext uri="{FF2B5EF4-FFF2-40B4-BE49-F238E27FC236}">
                  <a16:creationId xmlns:a16="http://schemas.microsoft.com/office/drawing/2014/main" id="{783D4696-51BC-993B-7A1A-38765723E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275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4"/>
            </a:solidFill>
            <a:ln w="19050" cap="sq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9" name="check" title="Icon of a checkmark">
              <a:extLst>
                <a:ext uri="{FF2B5EF4-FFF2-40B4-BE49-F238E27FC236}">
                  <a16:creationId xmlns:a16="http://schemas.microsoft.com/office/drawing/2014/main" id="{223901B0-AF8E-6AC8-8D82-18F86ED829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081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4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212CECD-55A0-051D-A46C-499A72AC953B}"/>
              </a:ext>
            </a:extLst>
          </p:cNvPr>
          <p:cNvGrpSpPr/>
          <p:nvPr/>
        </p:nvGrpSpPr>
        <p:grpSpPr>
          <a:xfrm>
            <a:off x="6483115" y="2153566"/>
            <a:ext cx="515317" cy="548640"/>
            <a:chOff x="6483115" y="2410563"/>
            <a:chExt cx="515317" cy="548640"/>
          </a:xfrm>
        </p:grpSpPr>
        <p:sp>
          <p:nvSpPr>
            <p:cNvPr id="179" name="Shield_EA18" title="Icon of a shield">
              <a:extLst>
                <a:ext uri="{FF2B5EF4-FFF2-40B4-BE49-F238E27FC236}">
                  <a16:creationId xmlns:a16="http://schemas.microsoft.com/office/drawing/2014/main" id="{10B370EF-6843-C9D6-80DC-7F9880BD0C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311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2"/>
            </a:solidFill>
            <a:ln w="19050" cap="sq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0" name="check" title="Icon of a checkmark">
              <a:extLst>
                <a:ext uri="{FF2B5EF4-FFF2-40B4-BE49-F238E27FC236}">
                  <a16:creationId xmlns:a16="http://schemas.microsoft.com/office/drawing/2014/main" id="{B377611A-6F37-B0A7-E322-3E14AD8188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17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noFill/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D296CE-1BF7-8132-CEC4-A2118876ECD8}"/>
              </a:ext>
            </a:extLst>
          </p:cNvPr>
          <p:cNvGrpSpPr/>
          <p:nvPr/>
        </p:nvGrpSpPr>
        <p:grpSpPr>
          <a:xfrm>
            <a:off x="9363475" y="2153566"/>
            <a:ext cx="515317" cy="548640"/>
            <a:chOff x="9363475" y="2410563"/>
            <a:chExt cx="515317" cy="548640"/>
          </a:xfrm>
        </p:grpSpPr>
        <p:sp>
          <p:nvSpPr>
            <p:cNvPr id="200" name="Shield_EA18" title="Icon of a shield">
              <a:extLst>
                <a:ext uri="{FF2B5EF4-FFF2-40B4-BE49-F238E27FC236}">
                  <a16:creationId xmlns:a16="http://schemas.microsoft.com/office/drawing/2014/main" id="{8F7265B1-3518-C398-F839-FDC3092BF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63475" y="2410563"/>
              <a:ext cx="515317" cy="548640"/>
            </a:xfrm>
            <a:custGeom>
              <a:avLst/>
              <a:gdLst>
                <a:gd name="T0" fmla="*/ 3500 w 3500"/>
                <a:gd name="T1" fmla="*/ 1375 h 3725"/>
                <a:gd name="T2" fmla="*/ 1750 w 3500"/>
                <a:gd name="T3" fmla="*/ 3725 h 3725"/>
                <a:gd name="T4" fmla="*/ 0 w 3500"/>
                <a:gd name="T5" fmla="*/ 1375 h 3725"/>
                <a:gd name="T6" fmla="*/ 0 w 3500"/>
                <a:gd name="T7" fmla="*/ 500 h 3725"/>
                <a:gd name="T8" fmla="*/ 1125 w 3500"/>
                <a:gd name="T9" fmla="*/ 187 h 3725"/>
                <a:gd name="T10" fmla="*/ 1750 w 3500"/>
                <a:gd name="T11" fmla="*/ 0 h 3725"/>
                <a:gd name="T12" fmla="*/ 2375 w 3500"/>
                <a:gd name="T13" fmla="*/ 187 h 3725"/>
                <a:gd name="T14" fmla="*/ 3500 w 3500"/>
                <a:gd name="T15" fmla="*/ 500 h 3725"/>
                <a:gd name="T16" fmla="*/ 3500 w 3500"/>
                <a:gd name="T17" fmla="*/ 1375 h 3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00" h="3725">
                  <a:moveTo>
                    <a:pt x="3500" y="1375"/>
                  </a:moveTo>
                  <a:cubicBezTo>
                    <a:pt x="3500" y="2302"/>
                    <a:pt x="2831" y="3117"/>
                    <a:pt x="1750" y="3725"/>
                  </a:cubicBezTo>
                  <a:cubicBezTo>
                    <a:pt x="669" y="3117"/>
                    <a:pt x="0" y="2302"/>
                    <a:pt x="0" y="1375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440" y="500"/>
                    <a:pt x="837" y="380"/>
                    <a:pt x="1125" y="187"/>
                  </a:cubicBezTo>
                  <a:cubicBezTo>
                    <a:pt x="1285" y="71"/>
                    <a:pt x="1506" y="0"/>
                    <a:pt x="1750" y="0"/>
                  </a:cubicBezTo>
                  <a:cubicBezTo>
                    <a:pt x="1994" y="0"/>
                    <a:pt x="2215" y="71"/>
                    <a:pt x="2375" y="187"/>
                  </a:cubicBezTo>
                  <a:cubicBezTo>
                    <a:pt x="2663" y="380"/>
                    <a:pt x="3060" y="500"/>
                    <a:pt x="3500" y="500"/>
                  </a:cubicBezTo>
                  <a:lnTo>
                    <a:pt x="3500" y="1375"/>
                  </a:lnTo>
                  <a:close/>
                </a:path>
              </a:pathLst>
            </a:custGeom>
            <a:solidFill>
              <a:schemeClr val="accent1"/>
            </a:solidFill>
            <a:ln w="19050" cap="sq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01" name="check" title="Icon of a checkmark">
              <a:extLst>
                <a:ext uri="{FF2B5EF4-FFF2-40B4-BE49-F238E27FC236}">
                  <a16:creationId xmlns:a16="http://schemas.microsoft.com/office/drawing/2014/main" id="{251A51B7-B03C-62ED-4C12-1EFB940EDA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491536" y="2593373"/>
              <a:ext cx="259195" cy="183022"/>
            </a:xfrm>
            <a:custGeom>
              <a:avLst/>
              <a:gdLst>
                <a:gd name="T0" fmla="*/ 245 w 245"/>
                <a:gd name="T1" fmla="*/ 0 h 173"/>
                <a:gd name="T2" fmla="*/ 73 w 245"/>
                <a:gd name="T3" fmla="*/ 173 h 173"/>
                <a:gd name="T4" fmla="*/ 0 w 245"/>
                <a:gd name="T5" fmla="*/ 10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5" h="173">
                  <a:moveTo>
                    <a:pt x="245" y="0"/>
                  </a:moveTo>
                  <a:lnTo>
                    <a:pt x="73" y="173"/>
                  </a:lnTo>
                  <a:lnTo>
                    <a:pt x="0" y="101"/>
                  </a:lnTo>
                </a:path>
              </a:pathLst>
            </a:custGeom>
            <a:solidFill>
              <a:schemeClr val="accent1"/>
            </a:solidFill>
            <a:ln w="15875" cap="sq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82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1"/>
                </a:gra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2" name="Shield_EA18" title="Icon of a shield">
            <a:extLst>
              <a:ext uri="{FF2B5EF4-FFF2-40B4-BE49-F238E27FC236}">
                <a16:creationId xmlns:a16="http://schemas.microsoft.com/office/drawing/2014/main" id="{345B3879-F222-C3AC-76ED-D8CFBD13186C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2153568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bg2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6" name="Shield_EA18" title="Icon of a shield">
            <a:extLst>
              <a:ext uri="{FF2B5EF4-FFF2-40B4-BE49-F238E27FC236}">
                <a16:creationId xmlns:a16="http://schemas.microsoft.com/office/drawing/2014/main" id="{1D4D74B7-E792-DC50-CE45-1906823765DF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4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7" name="Shield_EA18" title="Icon of a shield">
            <a:extLst>
              <a:ext uri="{FF2B5EF4-FFF2-40B4-BE49-F238E27FC236}">
                <a16:creationId xmlns:a16="http://schemas.microsoft.com/office/drawing/2014/main" id="{02B1470B-F35A-A025-5582-6F26AAE914C6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2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8" name="Shield_EA18" title="Icon of a shield">
            <a:extLst>
              <a:ext uri="{FF2B5EF4-FFF2-40B4-BE49-F238E27FC236}">
                <a16:creationId xmlns:a16="http://schemas.microsoft.com/office/drawing/2014/main" id="{D6B9E436-69A6-634F-DD1D-51EC0DFE0B07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accent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Shield_EA18" title="Icon of a shield">
            <a:extLst>
              <a:ext uri="{FF2B5EF4-FFF2-40B4-BE49-F238E27FC236}">
                <a16:creationId xmlns:a16="http://schemas.microsoft.com/office/drawing/2014/main" id="{11252CA8-398E-A1AA-921A-ACAF676EDDDD}"/>
              </a:ext>
            </a:extLst>
          </p:cNvPr>
          <p:cNvSpPr>
            <a:spLocks noChangeAspect="1"/>
          </p:cNvSpPr>
          <p:nvPr/>
        </p:nvSpPr>
        <p:spPr bwMode="auto">
          <a:xfrm>
            <a:off x="722394" y="2153568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bg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7" name="Shield_EA18" title="Icon of a shield">
            <a:extLst>
              <a:ext uri="{FF2B5EF4-FFF2-40B4-BE49-F238E27FC236}">
                <a16:creationId xmlns:a16="http://schemas.microsoft.com/office/drawing/2014/main" id="{A04C2DB7-ACD1-40FA-FFED-EDCA901474A7}"/>
              </a:ext>
            </a:extLst>
          </p:cNvPr>
          <p:cNvSpPr>
            <a:spLocks noChangeAspect="1"/>
          </p:cNvSpPr>
          <p:nvPr/>
        </p:nvSpPr>
        <p:spPr bwMode="auto">
          <a:xfrm>
            <a:off x="360275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4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8" name="Shield_EA18" title="Icon of a shield">
            <a:extLst>
              <a:ext uri="{FF2B5EF4-FFF2-40B4-BE49-F238E27FC236}">
                <a16:creationId xmlns:a16="http://schemas.microsoft.com/office/drawing/2014/main" id="{54E936F2-05FB-06C3-28EB-9B9BEB7C521E}"/>
              </a:ext>
            </a:extLst>
          </p:cNvPr>
          <p:cNvSpPr>
            <a:spLocks noChangeAspect="1"/>
          </p:cNvSpPr>
          <p:nvPr/>
        </p:nvSpPr>
        <p:spPr bwMode="auto">
          <a:xfrm>
            <a:off x="648311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9" name="Shield_EA18" title="Icon of a shield">
            <a:extLst>
              <a:ext uri="{FF2B5EF4-FFF2-40B4-BE49-F238E27FC236}">
                <a16:creationId xmlns:a16="http://schemas.microsoft.com/office/drawing/2014/main" id="{155268AA-BB5D-4E75-7EF6-41E5277594B9}"/>
              </a:ext>
            </a:extLst>
          </p:cNvPr>
          <p:cNvSpPr>
            <a:spLocks noChangeAspect="1"/>
          </p:cNvSpPr>
          <p:nvPr/>
        </p:nvSpPr>
        <p:spPr bwMode="auto">
          <a:xfrm>
            <a:off x="9363475" y="2153566"/>
            <a:ext cx="515317" cy="548640"/>
          </a:xfrm>
          <a:custGeom>
            <a:avLst/>
            <a:gdLst>
              <a:gd name="T0" fmla="*/ 3500 w 3500"/>
              <a:gd name="T1" fmla="*/ 1375 h 3725"/>
              <a:gd name="T2" fmla="*/ 1750 w 3500"/>
              <a:gd name="T3" fmla="*/ 3725 h 3725"/>
              <a:gd name="T4" fmla="*/ 0 w 3500"/>
              <a:gd name="T5" fmla="*/ 1375 h 3725"/>
              <a:gd name="T6" fmla="*/ 0 w 3500"/>
              <a:gd name="T7" fmla="*/ 500 h 3725"/>
              <a:gd name="T8" fmla="*/ 1125 w 3500"/>
              <a:gd name="T9" fmla="*/ 187 h 3725"/>
              <a:gd name="T10" fmla="*/ 1750 w 3500"/>
              <a:gd name="T11" fmla="*/ 0 h 3725"/>
              <a:gd name="T12" fmla="*/ 2375 w 3500"/>
              <a:gd name="T13" fmla="*/ 187 h 3725"/>
              <a:gd name="T14" fmla="*/ 3500 w 3500"/>
              <a:gd name="T15" fmla="*/ 500 h 3725"/>
              <a:gd name="T16" fmla="*/ 3500 w 3500"/>
              <a:gd name="T17" fmla="*/ 1375 h 3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00" h="3725">
                <a:moveTo>
                  <a:pt x="3500" y="1375"/>
                </a:moveTo>
                <a:cubicBezTo>
                  <a:pt x="3500" y="2302"/>
                  <a:pt x="2831" y="3117"/>
                  <a:pt x="1750" y="3725"/>
                </a:cubicBezTo>
                <a:cubicBezTo>
                  <a:pt x="669" y="3117"/>
                  <a:pt x="0" y="2302"/>
                  <a:pt x="0" y="1375"/>
                </a:cubicBezTo>
                <a:cubicBezTo>
                  <a:pt x="0" y="500"/>
                  <a:pt x="0" y="500"/>
                  <a:pt x="0" y="500"/>
                </a:cubicBezTo>
                <a:cubicBezTo>
                  <a:pt x="440" y="500"/>
                  <a:pt x="837" y="380"/>
                  <a:pt x="1125" y="187"/>
                </a:cubicBezTo>
                <a:cubicBezTo>
                  <a:pt x="1285" y="71"/>
                  <a:pt x="1506" y="0"/>
                  <a:pt x="1750" y="0"/>
                </a:cubicBezTo>
                <a:cubicBezTo>
                  <a:pt x="1994" y="0"/>
                  <a:pt x="2215" y="71"/>
                  <a:pt x="2375" y="187"/>
                </a:cubicBezTo>
                <a:cubicBezTo>
                  <a:pt x="2663" y="380"/>
                  <a:pt x="3060" y="500"/>
                  <a:pt x="3500" y="500"/>
                </a:cubicBezTo>
                <a:lnTo>
                  <a:pt x="3500" y="1375"/>
                </a:lnTo>
                <a:close/>
              </a:path>
            </a:pathLst>
          </a:custGeom>
          <a:solidFill>
            <a:schemeClr val="tx1"/>
          </a:solidFill>
          <a:ln w="19050" cap="sq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5050"/>
                  </a:gs>
                  <a:gs pos="100000">
                    <a:srgbClr val="505050"/>
                  </a:gs>
                </a:gsLst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7CABB6-30A3-FD5E-3798-AD2E21EE28E5}"/>
              </a:ext>
            </a:extLst>
          </p:cNvPr>
          <p:cNvGrpSpPr/>
          <p:nvPr/>
        </p:nvGrpSpPr>
        <p:grpSpPr>
          <a:xfrm>
            <a:off x="402336" y="6053328"/>
            <a:ext cx="11384280" cy="402336"/>
            <a:chOff x="402336" y="6053328"/>
            <a:chExt cx="11384280" cy="402336"/>
          </a:xfrm>
        </p:grpSpPr>
        <p:sp>
          <p:nvSpPr>
            <p:cNvPr id="16" name="check 3" title="Icon of a checkmark with a circle around it">
              <a:extLst>
                <a:ext uri="{FF2B5EF4-FFF2-40B4-BE49-F238E27FC236}">
                  <a16:creationId xmlns:a16="http://schemas.microsoft.com/office/drawing/2014/main" id="{395F2900-BC2D-7CD2-3570-EDB649D1C5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noFill/>
            <a:ln w="15875" cap="sq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7" name="check 3" title="Icon of a checkmark with a circle around it">
              <a:extLst>
                <a:ext uri="{FF2B5EF4-FFF2-40B4-BE49-F238E27FC236}">
                  <a16:creationId xmlns:a16="http://schemas.microsoft.com/office/drawing/2014/main" id="{2C60AC3F-CF3E-60A4-7919-320E65DB72C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381933" y="6053328"/>
              <a:ext cx="404683" cy="402336"/>
            </a:xfrm>
            <a:custGeom>
              <a:avLst/>
              <a:gdLst>
                <a:gd name="T0" fmla="*/ 250 w 250"/>
                <a:gd name="T1" fmla="*/ 125 h 250"/>
                <a:gd name="T2" fmla="*/ 125 w 250"/>
                <a:gd name="T3" fmla="*/ 250 h 250"/>
                <a:gd name="T4" fmla="*/ 0 w 250"/>
                <a:gd name="T5" fmla="*/ 125 h 250"/>
                <a:gd name="T6" fmla="*/ 125 w 250"/>
                <a:gd name="T7" fmla="*/ 0 h 250"/>
                <a:gd name="T8" fmla="*/ 250 w 250"/>
                <a:gd name="T9" fmla="*/ 125 h 250"/>
                <a:gd name="T10" fmla="*/ 60 w 250"/>
                <a:gd name="T11" fmla="*/ 125 h 250"/>
                <a:gd name="T12" fmla="*/ 100 w 250"/>
                <a:gd name="T13" fmla="*/ 165 h 250"/>
                <a:gd name="T14" fmla="*/ 190 w 250"/>
                <a:gd name="T15" fmla="*/ 7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250">
                  <a:moveTo>
                    <a:pt x="250" y="125"/>
                  </a:moveTo>
                  <a:cubicBezTo>
                    <a:pt x="250" y="194"/>
                    <a:pt x="194" y="250"/>
                    <a:pt x="125" y="250"/>
                  </a:cubicBezTo>
                  <a:cubicBezTo>
                    <a:pt x="56" y="250"/>
                    <a:pt x="0" y="194"/>
                    <a:pt x="0" y="125"/>
                  </a:cubicBezTo>
                  <a:cubicBezTo>
                    <a:pt x="0" y="56"/>
                    <a:pt x="56" y="0"/>
                    <a:pt x="125" y="0"/>
                  </a:cubicBezTo>
                  <a:cubicBezTo>
                    <a:pt x="194" y="0"/>
                    <a:pt x="250" y="56"/>
                    <a:pt x="250" y="125"/>
                  </a:cubicBezTo>
                  <a:close/>
                  <a:moveTo>
                    <a:pt x="60" y="125"/>
                  </a:moveTo>
                  <a:cubicBezTo>
                    <a:pt x="100" y="165"/>
                    <a:pt x="100" y="165"/>
                    <a:pt x="100" y="165"/>
                  </a:cubicBezTo>
                  <a:cubicBezTo>
                    <a:pt x="190" y="74"/>
                    <a:pt x="190" y="74"/>
                    <a:pt x="190" y="74"/>
                  </a:cubicBezTo>
                </a:path>
              </a:pathLst>
            </a:custGeom>
            <a:solidFill>
              <a:schemeClr val="tx1"/>
            </a:solidFill>
            <a:ln w="15875" cap="sq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89642" tIns="44821" rIns="89642" bIns="44821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84086C-91C0-8381-0AF9-CC3246C29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336" y="6254496"/>
              <a:ext cx="10979597" cy="0"/>
            </a:xfrm>
            <a:prstGeom prst="line">
              <a:avLst/>
            </a:prstGeom>
            <a:solidFill>
              <a:schemeClr val="bg1"/>
            </a:solidFill>
            <a:ln w="19050" cap="flat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F9EF662-85C1-5D9A-F751-8ECF600F252F}"/>
              </a:ext>
            </a:extLst>
          </p:cNvPr>
          <p:cNvCxnSpPr>
            <a:cxnSpLocks/>
          </p:cNvCxnSpPr>
          <p:nvPr/>
        </p:nvCxnSpPr>
        <p:spPr>
          <a:xfrm>
            <a:off x="493776" y="2153568"/>
            <a:ext cx="0" cy="389976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BAE3E06-91D8-DD49-8E82-26DA6EA3F9C9}"/>
              </a:ext>
            </a:extLst>
          </p:cNvPr>
          <p:cNvSpPr txBox="1"/>
          <p:nvPr/>
        </p:nvSpPr>
        <p:spPr>
          <a:xfrm>
            <a:off x="717772" y="3279030"/>
            <a:ext cx="2423160" cy="19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Identify regulatory requirements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A294EB09-2048-01F0-EA76-C15D8CACB8D7}"/>
              </a:ext>
            </a:extLst>
          </p:cNvPr>
          <p:cNvSpPr/>
          <p:nvPr/>
        </p:nvSpPr>
        <p:spPr>
          <a:xfrm>
            <a:off x="402336" y="3282700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644F1F17-06DF-8FAD-8F53-9A30FD5DC67E}"/>
              </a:ext>
            </a:extLst>
          </p:cNvPr>
          <p:cNvSpPr/>
          <p:nvPr/>
        </p:nvSpPr>
        <p:spPr>
          <a:xfrm>
            <a:off x="402336" y="328270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D61DF4-59BF-8D55-E8A5-3340F5A96CD7}"/>
              </a:ext>
            </a:extLst>
          </p:cNvPr>
          <p:cNvSpPr txBox="1"/>
          <p:nvPr/>
        </p:nvSpPr>
        <p:spPr>
          <a:xfrm>
            <a:off x="722394" y="2843857"/>
            <a:ext cx="2423122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F525B8-52D5-BDC6-8D2C-A756583FBD0B}"/>
              </a:ext>
            </a:extLst>
          </p:cNvPr>
          <p:cNvSpPr txBox="1"/>
          <p:nvPr/>
        </p:nvSpPr>
        <p:spPr>
          <a:xfrm>
            <a:off x="722375" y="4882532"/>
            <a:ext cx="2423160" cy="626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Review current guidance for regulations that apply to your organization.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A55D14B-9C57-ECE2-6967-31287B5F7568}"/>
              </a:ext>
            </a:extLst>
          </p:cNvPr>
          <p:cNvSpPr/>
          <p:nvPr/>
        </p:nvSpPr>
        <p:spPr>
          <a:xfrm>
            <a:off x="411079" y="3915546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0" name="Diamond 109">
            <a:extLst>
              <a:ext uri="{FF2B5EF4-FFF2-40B4-BE49-F238E27FC236}">
                <a16:creationId xmlns:a16="http://schemas.microsoft.com/office/drawing/2014/main" id="{3F8CCEB0-23BE-D2C0-9C1F-5CFE6C0D5AFF}"/>
              </a:ext>
            </a:extLst>
          </p:cNvPr>
          <p:cNvSpPr/>
          <p:nvPr/>
        </p:nvSpPr>
        <p:spPr>
          <a:xfrm>
            <a:off x="402336" y="39155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E455936-B17A-9769-BB09-5CCC6AD0F7F3}"/>
              </a:ext>
            </a:extLst>
          </p:cNvPr>
          <p:cNvSpPr txBox="1"/>
          <p:nvPr/>
        </p:nvSpPr>
        <p:spPr>
          <a:xfrm>
            <a:off x="708501" y="3915546"/>
            <a:ext cx="242316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Use Compliance Manager to assess compliance and plan remediation for identified gaps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1839F0DD-6003-508E-D638-407F410FBD64}"/>
              </a:ext>
            </a:extLst>
          </p:cNvPr>
          <p:cNvSpPr/>
          <p:nvPr/>
        </p:nvSpPr>
        <p:spPr>
          <a:xfrm>
            <a:off x="402336" y="4880201"/>
            <a:ext cx="182880" cy="182880"/>
          </a:xfrm>
          <a:prstGeom prst="diamond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C2DBED7-65E2-65AA-7C65-19602AF4B330}"/>
              </a:ext>
            </a:extLst>
          </p:cNvPr>
          <p:cNvSpPr/>
          <p:nvPr/>
        </p:nvSpPr>
        <p:spPr>
          <a:xfrm>
            <a:off x="401341" y="4882532"/>
            <a:ext cx="182881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27D9D9B-D38D-F746-1D04-CD95D8FFEBAC}"/>
              </a:ext>
            </a:extLst>
          </p:cNvPr>
          <p:cNvCxnSpPr>
            <a:cxnSpLocks/>
          </p:cNvCxnSpPr>
          <p:nvPr/>
        </p:nvCxnSpPr>
        <p:spPr>
          <a:xfrm>
            <a:off x="3374136" y="2153568"/>
            <a:ext cx="0" cy="389976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BB2B2BE-97A3-5519-7998-FB618414B17E}"/>
              </a:ext>
            </a:extLst>
          </p:cNvPr>
          <p:cNvSpPr txBox="1"/>
          <p:nvPr/>
        </p:nvSpPr>
        <p:spPr>
          <a:xfrm>
            <a:off x="3602754" y="5321133"/>
            <a:ext cx="2423160" cy="626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communication compliance policies (if applicable)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3" name="Diamond 152">
            <a:extLst>
              <a:ext uri="{FF2B5EF4-FFF2-40B4-BE49-F238E27FC236}">
                <a16:creationId xmlns:a16="http://schemas.microsoft.com/office/drawing/2014/main" id="{20E62FE7-645B-BC2B-639E-DC53A68EC59E}"/>
              </a:ext>
            </a:extLst>
          </p:cNvPr>
          <p:cNvSpPr/>
          <p:nvPr/>
        </p:nvSpPr>
        <p:spPr>
          <a:xfrm>
            <a:off x="3282696" y="3312070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4" name="Diamond 153">
            <a:extLst>
              <a:ext uri="{FF2B5EF4-FFF2-40B4-BE49-F238E27FC236}">
                <a16:creationId xmlns:a16="http://schemas.microsoft.com/office/drawing/2014/main" id="{EBF7E810-F77C-030D-5596-040D38ED0D9F}"/>
              </a:ext>
            </a:extLst>
          </p:cNvPr>
          <p:cNvSpPr/>
          <p:nvPr/>
        </p:nvSpPr>
        <p:spPr>
          <a:xfrm>
            <a:off x="3282696" y="331207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A27A7B-C252-1EDB-7F75-73DC15971193}"/>
              </a:ext>
            </a:extLst>
          </p:cNvPr>
          <p:cNvSpPr txBox="1"/>
          <p:nvPr/>
        </p:nvSpPr>
        <p:spPr>
          <a:xfrm>
            <a:off x="3602754" y="2843857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376284-A3A5-7BC2-62E9-B399F90D443C}"/>
              </a:ext>
            </a:extLst>
          </p:cNvPr>
          <p:cNvSpPr txBox="1"/>
          <p:nvPr/>
        </p:nvSpPr>
        <p:spPr>
          <a:xfrm>
            <a:off x="3602754" y="3279030"/>
            <a:ext cx="242316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Use content explorer to identify regulated data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9" name="Diamond 148">
            <a:extLst>
              <a:ext uri="{FF2B5EF4-FFF2-40B4-BE49-F238E27FC236}">
                <a16:creationId xmlns:a16="http://schemas.microsoft.com/office/drawing/2014/main" id="{D0564810-9C6F-A439-F8E0-9B5CB351F4A3}"/>
              </a:ext>
            </a:extLst>
          </p:cNvPr>
          <p:cNvSpPr/>
          <p:nvPr/>
        </p:nvSpPr>
        <p:spPr>
          <a:xfrm>
            <a:off x="3282696" y="532312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0" name="Diamond 149">
            <a:extLst>
              <a:ext uri="{FF2B5EF4-FFF2-40B4-BE49-F238E27FC236}">
                <a16:creationId xmlns:a16="http://schemas.microsoft.com/office/drawing/2014/main" id="{23A7E667-9388-1044-D30D-E87FC73A4C9B}"/>
              </a:ext>
            </a:extLst>
          </p:cNvPr>
          <p:cNvSpPr/>
          <p:nvPr/>
        </p:nvSpPr>
        <p:spPr>
          <a:xfrm>
            <a:off x="3282696" y="532303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5BAFCDB-86AC-8486-41F8-BE95DEEE588E}"/>
              </a:ext>
            </a:extLst>
          </p:cNvPr>
          <p:cNvCxnSpPr>
            <a:cxnSpLocks/>
          </p:cNvCxnSpPr>
          <p:nvPr/>
        </p:nvCxnSpPr>
        <p:spPr>
          <a:xfrm>
            <a:off x="6254496" y="2153568"/>
            <a:ext cx="0" cy="389976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8571E48C-C720-BA79-AF25-39B177B2B097}"/>
              </a:ext>
            </a:extLst>
          </p:cNvPr>
          <p:cNvSpPr txBox="1"/>
          <p:nvPr/>
        </p:nvSpPr>
        <p:spPr>
          <a:xfrm>
            <a:off x="6483114" y="2843857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24E496A-51F7-D784-8C66-456A6DC0E0AE}"/>
              </a:ext>
            </a:extLst>
          </p:cNvPr>
          <p:cNvSpPr txBox="1"/>
          <p:nvPr/>
        </p:nvSpPr>
        <p:spPr>
          <a:xfrm>
            <a:off x="6467026" y="5344016"/>
            <a:ext cx="2423160" cy="626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Re-assess compliance using Compliance Manager and address remaining gaps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2" name="Diamond 171">
            <a:extLst>
              <a:ext uri="{FF2B5EF4-FFF2-40B4-BE49-F238E27FC236}">
                <a16:creationId xmlns:a16="http://schemas.microsoft.com/office/drawing/2014/main" id="{8A756207-246F-D328-2249-16DF96789144}"/>
              </a:ext>
            </a:extLst>
          </p:cNvPr>
          <p:cNvSpPr/>
          <p:nvPr/>
        </p:nvSpPr>
        <p:spPr>
          <a:xfrm>
            <a:off x="6171078" y="4565296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3" name="Diamond 172">
            <a:extLst>
              <a:ext uri="{FF2B5EF4-FFF2-40B4-BE49-F238E27FC236}">
                <a16:creationId xmlns:a16="http://schemas.microsoft.com/office/drawing/2014/main" id="{E969A2B5-8AA8-A22E-31A0-35291547214D}"/>
              </a:ext>
            </a:extLst>
          </p:cNvPr>
          <p:cNvSpPr/>
          <p:nvPr/>
        </p:nvSpPr>
        <p:spPr>
          <a:xfrm>
            <a:off x="6171078" y="4556275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6FAD662-E635-3167-2555-0C962BDEAD25}"/>
              </a:ext>
            </a:extLst>
          </p:cNvPr>
          <p:cNvCxnSpPr>
            <a:cxnSpLocks/>
          </p:cNvCxnSpPr>
          <p:nvPr/>
        </p:nvCxnSpPr>
        <p:spPr>
          <a:xfrm>
            <a:off x="9134856" y="2153568"/>
            <a:ext cx="0" cy="389976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Diamond 194">
            <a:extLst>
              <a:ext uri="{FF2B5EF4-FFF2-40B4-BE49-F238E27FC236}">
                <a16:creationId xmlns:a16="http://schemas.microsoft.com/office/drawing/2014/main" id="{EFDBF82A-557E-6EF7-FB33-DD9CD734181F}"/>
              </a:ext>
            </a:extLst>
          </p:cNvPr>
          <p:cNvSpPr/>
          <p:nvPr/>
        </p:nvSpPr>
        <p:spPr>
          <a:xfrm>
            <a:off x="9043416" y="3312070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05936675-F411-74FB-BA70-E6DEA6E4C9AE}"/>
              </a:ext>
            </a:extLst>
          </p:cNvPr>
          <p:cNvSpPr/>
          <p:nvPr/>
        </p:nvSpPr>
        <p:spPr>
          <a:xfrm>
            <a:off x="9043416" y="3312070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9CF4A0-3F6C-0B63-DAFE-CB3C21D2C85D}"/>
              </a:ext>
            </a:extLst>
          </p:cNvPr>
          <p:cNvSpPr txBox="1"/>
          <p:nvPr/>
        </p:nvSpPr>
        <p:spPr>
          <a:xfrm>
            <a:off x="9363474" y="2843857"/>
            <a:ext cx="2423160" cy="305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Stage 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34FAB7C-B471-857A-1BBF-4055F38ADD37}"/>
              </a:ext>
            </a:extLst>
          </p:cNvPr>
          <p:cNvSpPr txBox="1"/>
          <p:nvPr/>
        </p:nvSpPr>
        <p:spPr>
          <a:xfrm>
            <a:off x="402336" y="1090624"/>
            <a:ext cx="58674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Times New Roman" panose="02020603050405020304" pitchFamily="18" charset="0"/>
              </a:rPr>
              <a:t>Meet regulatory and compliance requirements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9078B0F-E61E-E94D-9848-FFA4CC6114DC}"/>
              </a:ext>
            </a:extLst>
          </p:cNvPr>
          <p:cNvSpPr>
            <a:spLocks noChangeAspect="1"/>
          </p:cNvSpPr>
          <p:nvPr/>
        </p:nvSpPr>
        <p:spPr>
          <a:xfrm>
            <a:off x="1594795" y="6053328"/>
            <a:ext cx="301752" cy="3017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B1877-1E7C-1FE5-2DB5-30079D7A98FA}"/>
              </a:ext>
            </a:extLst>
          </p:cNvPr>
          <p:cNvSpPr txBox="1"/>
          <p:nvPr/>
        </p:nvSpPr>
        <p:spPr>
          <a:xfrm>
            <a:off x="9363473" y="3308950"/>
            <a:ext cx="2560303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Microsoft Sentinel to build reports to continuously assess and inventory the compliance status of your information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343E90E-E466-72EC-8DA8-A9BA8AC41661}"/>
              </a:ext>
            </a:extLst>
          </p:cNvPr>
          <p:cNvSpPr/>
          <p:nvPr/>
        </p:nvSpPr>
        <p:spPr>
          <a:xfrm>
            <a:off x="9043416" y="4326584"/>
            <a:ext cx="182880" cy="18288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8447FB7A-274C-4B73-8894-8987049BCB21}"/>
              </a:ext>
            </a:extLst>
          </p:cNvPr>
          <p:cNvSpPr/>
          <p:nvPr/>
        </p:nvSpPr>
        <p:spPr>
          <a:xfrm>
            <a:off x="9043416" y="4326584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9CADD9-F992-3F14-9172-E1568DB3A9BA}"/>
              </a:ext>
            </a:extLst>
          </p:cNvPr>
          <p:cNvSpPr/>
          <p:nvPr/>
        </p:nvSpPr>
        <p:spPr>
          <a:xfrm>
            <a:off x="9135047" y="6548150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C16805-D89D-66DD-CDBA-72CF8CBAEB84}"/>
              </a:ext>
            </a:extLst>
          </p:cNvPr>
          <p:cNvSpPr/>
          <p:nvPr/>
        </p:nvSpPr>
        <p:spPr>
          <a:xfrm>
            <a:off x="3374136" y="6500024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421071-1FC9-B6AC-22E9-7B918E2D63E3}"/>
              </a:ext>
            </a:extLst>
          </p:cNvPr>
          <p:cNvSpPr/>
          <p:nvPr/>
        </p:nvSpPr>
        <p:spPr>
          <a:xfrm>
            <a:off x="493776" y="6596276"/>
            <a:ext cx="265156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3E2E0-4D5E-8E5B-7DD1-E1AC11B219E5}"/>
              </a:ext>
            </a:extLst>
          </p:cNvPr>
          <p:cNvSpPr txBox="1"/>
          <p:nvPr/>
        </p:nvSpPr>
        <p:spPr>
          <a:xfrm>
            <a:off x="3602754" y="3845287"/>
            <a:ext cx="2423160" cy="840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Times New Roman" panose="02020603050405020304" pitchFamily="18" charset="0"/>
              </a:rPr>
              <a:t>Assess requirements for information protection and implement retention and sensitivity labels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A2D67D-58B4-86D7-A8E9-176FCB44D947}"/>
              </a:ext>
            </a:extLst>
          </p:cNvPr>
          <p:cNvSpPr txBox="1"/>
          <p:nvPr/>
        </p:nvSpPr>
        <p:spPr>
          <a:xfrm>
            <a:off x="3594697" y="4868270"/>
            <a:ext cx="2423160" cy="19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Times New Roman" panose="02020603050405020304" pitchFamily="18" charset="0"/>
              </a:rPr>
              <a:t>Implement DLP policies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92E2A6D3-2F04-6895-5DB9-C06859B7E710}"/>
              </a:ext>
            </a:extLst>
          </p:cNvPr>
          <p:cNvSpPr/>
          <p:nvPr/>
        </p:nvSpPr>
        <p:spPr>
          <a:xfrm>
            <a:off x="3287318" y="3854589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D7BC623E-F126-7B19-BFAC-C9CA778AE683}"/>
              </a:ext>
            </a:extLst>
          </p:cNvPr>
          <p:cNvSpPr/>
          <p:nvPr/>
        </p:nvSpPr>
        <p:spPr>
          <a:xfrm>
            <a:off x="3287318" y="3854589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53A7BFD9-4FC8-7DE9-D21C-28BFD8760A20}"/>
              </a:ext>
            </a:extLst>
          </p:cNvPr>
          <p:cNvSpPr/>
          <p:nvPr/>
        </p:nvSpPr>
        <p:spPr>
          <a:xfrm>
            <a:off x="3287315" y="4864646"/>
            <a:ext cx="182880" cy="18288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DFECEFC3-CA3F-4452-E7A9-99C8C57DB84D}"/>
              </a:ext>
            </a:extLst>
          </p:cNvPr>
          <p:cNvSpPr/>
          <p:nvPr/>
        </p:nvSpPr>
        <p:spPr>
          <a:xfrm>
            <a:off x="3287315" y="486464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7A63B-9C1D-4BFE-1817-C569643AFDAD}"/>
              </a:ext>
            </a:extLst>
          </p:cNvPr>
          <p:cNvSpPr txBox="1"/>
          <p:nvPr/>
        </p:nvSpPr>
        <p:spPr>
          <a:xfrm>
            <a:off x="6452322" y="4024535"/>
            <a:ext cx="242316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Set up partitioning and isolation controls (if applicable)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0A91A23A-AC99-F73F-8622-C707BAF3FE4F}"/>
              </a:ext>
            </a:extLst>
          </p:cNvPr>
          <p:cNvSpPr/>
          <p:nvPr/>
        </p:nvSpPr>
        <p:spPr>
          <a:xfrm>
            <a:off x="6162796" y="3308763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91A9DD10-A3FB-EF8B-7568-A611FDD7B736}"/>
              </a:ext>
            </a:extLst>
          </p:cNvPr>
          <p:cNvSpPr/>
          <p:nvPr/>
        </p:nvSpPr>
        <p:spPr>
          <a:xfrm>
            <a:off x="6171078" y="4040706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E6D8DE-7929-5713-B1A9-51F2BCE273E8}"/>
              </a:ext>
            </a:extLst>
          </p:cNvPr>
          <p:cNvSpPr txBox="1"/>
          <p:nvPr/>
        </p:nvSpPr>
        <p:spPr>
          <a:xfrm>
            <a:off x="6483114" y="3289156"/>
            <a:ext cx="2423160" cy="626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Extend data lifecycle management policies with automation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9E1221-D325-3EE1-9AD8-965C55DE675A}"/>
              </a:ext>
            </a:extLst>
          </p:cNvPr>
          <p:cNvSpPr txBox="1"/>
          <p:nvPr/>
        </p:nvSpPr>
        <p:spPr>
          <a:xfrm>
            <a:off x="9352646" y="4305764"/>
            <a:ext cx="242316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Compliance Manager to identify and remediate remaining gaps and meet the requirements of new or updated regulations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5A65E-30AE-0B94-F197-79AE94F6C6EE}"/>
              </a:ext>
            </a:extLst>
          </p:cNvPr>
          <p:cNvSpPr txBox="1"/>
          <p:nvPr/>
        </p:nvSpPr>
        <p:spPr>
          <a:xfrm>
            <a:off x="6453519" y="4533634"/>
            <a:ext cx="2423160" cy="626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4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Calibri" panose="020F0502020204030204" pitchFamily="34" charset="0"/>
                <a:cs typeface="Times New Roman" panose="02020603050405020304" pitchFamily="18" charset="0"/>
              </a:rPr>
              <a:t>Implement container labeling, automatic and mandatory labeling, and stricter DLP policies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62F6EA7-4B1B-C200-A53C-064D23F84C5E}"/>
              </a:ext>
            </a:extLst>
          </p:cNvPr>
          <p:cNvSpPr/>
          <p:nvPr/>
        </p:nvSpPr>
        <p:spPr>
          <a:xfrm>
            <a:off x="6169554" y="5361569"/>
            <a:ext cx="182880" cy="18288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14FF7A0C-D0A2-D8F7-4D78-27841B646A13}"/>
              </a:ext>
            </a:extLst>
          </p:cNvPr>
          <p:cNvSpPr/>
          <p:nvPr/>
        </p:nvSpPr>
        <p:spPr>
          <a:xfrm>
            <a:off x="6169554" y="5352548"/>
            <a:ext cx="182880" cy="182880"/>
          </a:xfrm>
          <a:prstGeom prst="diamond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486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 Placeholder 55">
            <a:extLst>
              <a:ext uri="{FF2B5EF4-FFF2-40B4-BE49-F238E27FC236}">
                <a16:creationId xmlns:a16="http://schemas.microsoft.com/office/drawing/2014/main" id="{DDCD6038-2919-17F5-6FB4-9F217D5B96C3}"/>
              </a:ext>
            </a:extLst>
          </p:cNvPr>
          <p:cNvSpPr txBox="1">
            <a:spLocks/>
          </p:cNvSpPr>
          <p:nvPr/>
        </p:nvSpPr>
        <p:spPr>
          <a:xfrm>
            <a:off x="12606528" y="3777768"/>
            <a:ext cx="3044952" cy="671342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Card template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58934B-A25B-C9CB-EAFD-B584C1E89BB0}"/>
              </a:ext>
            </a:extLst>
          </p:cNvPr>
          <p:cNvGrpSpPr/>
          <p:nvPr/>
        </p:nvGrpSpPr>
        <p:grpSpPr>
          <a:xfrm>
            <a:off x="12606528" y="4557588"/>
            <a:ext cx="3044952" cy="2286000"/>
            <a:chOff x="12606528" y="4557588"/>
            <a:chExt cx="3044952" cy="228600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2B5DCA6-4341-03D3-00AE-729915795E06}"/>
                </a:ext>
              </a:extLst>
            </p:cNvPr>
            <p:cNvSpPr/>
            <p:nvPr/>
          </p:nvSpPr>
          <p:spPr>
            <a:xfrm>
              <a:off x="12606528" y="4557588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81" name="Text Placeholder 55">
              <a:extLst>
                <a:ext uri="{FF2B5EF4-FFF2-40B4-BE49-F238E27FC236}">
                  <a16:creationId xmlns:a16="http://schemas.microsoft.com/office/drawing/2014/main" id="{B3C95587-8C3F-5D69-7C6E-5935E0737A82}"/>
                </a:ext>
              </a:extLst>
            </p:cNvPr>
            <p:cNvSpPr txBox="1">
              <a:spLocks/>
            </p:cNvSpPr>
            <p:nvPr/>
          </p:nvSpPr>
          <p:spPr>
            <a:xfrm>
              <a:off x="12919044" y="5781728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 description of their responsibilities pertaining to this project, written in two to five lines of text.</a:t>
              </a:r>
            </a:p>
          </p:txBody>
        </p:sp>
        <p:sp>
          <p:nvSpPr>
            <p:cNvPr id="279" name="Text Placeholder 55">
              <a:extLst>
                <a:ext uri="{FF2B5EF4-FFF2-40B4-BE49-F238E27FC236}">
                  <a16:creationId xmlns:a16="http://schemas.microsoft.com/office/drawing/2014/main" id="{7BBDBA45-3ED4-DA5D-5AB7-2D8323903CC6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4783418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Role</a:t>
              </a:r>
            </a:p>
          </p:txBody>
        </p:sp>
        <p:sp>
          <p:nvSpPr>
            <p:cNvPr id="280" name="Text Placeholder 55">
              <a:extLst>
                <a:ext uri="{FF2B5EF4-FFF2-40B4-BE49-F238E27FC236}">
                  <a16:creationId xmlns:a16="http://schemas.microsoft.com/office/drawing/2014/main" id="{F7DF6481-00A8-1262-F801-8645160EA6F9}"/>
                </a:ext>
              </a:extLst>
            </p:cNvPr>
            <p:cNvSpPr txBox="1">
              <a:spLocks/>
            </p:cNvSpPr>
            <p:nvPr/>
          </p:nvSpPr>
          <p:spPr>
            <a:xfrm>
              <a:off x="13837920" y="5479711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C458EB86-2141-2651-DF67-EC3ECFA09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835127" y="4786188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EA991A45-B783-7157-29E9-58A3AEEF7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35127" y="4786188"/>
              <a:ext cx="894101" cy="894101"/>
            </a:xfrm>
            <a:prstGeom prst="ellipse">
              <a:avLst/>
            </a:prstGeom>
          </p:spPr>
        </p:pic>
        <p:sp>
          <p:nvSpPr>
            <p:cNvPr id="351" name="Picture Placeholder 60">
              <a:extLst>
                <a:ext uri="{FF2B5EF4-FFF2-40B4-BE49-F238E27FC236}">
                  <a16:creationId xmlns:a16="http://schemas.microsoft.com/office/drawing/2014/main" id="{0CF7C2AA-5800-A59D-0960-F79E63D09082}"/>
                </a:ext>
              </a:extLst>
            </p:cNvPr>
            <p:cNvSpPr txBox="1">
              <a:spLocks/>
            </p:cNvSpPr>
            <p:nvPr/>
          </p:nvSpPr>
          <p:spPr>
            <a:xfrm>
              <a:off x="12835127" y="4833391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DDAD6B5-66C4-328C-3C69-9BBEC52A57C9}"/>
              </a:ext>
            </a:extLst>
          </p:cNvPr>
          <p:cNvGrpSpPr/>
          <p:nvPr/>
        </p:nvGrpSpPr>
        <p:grpSpPr>
          <a:xfrm>
            <a:off x="0" y="4572000"/>
            <a:ext cx="3044952" cy="2286000"/>
            <a:chOff x="0" y="4572000"/>
            <a:chExt cx="3044952" cy="2286000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1C1F69F6-3B49-9F27-C778-74AE87738848}"/>
                </a:ext>
              </a:extLst>
            </p:cNvPr>
            <p:cNvSpPr/>
            <p:nvPr/>
          </p:nvSpPr>
          <p:spPr>
            <a:xfrm>
              <a:off x="0" y="4572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54" name="Text Placeholder 55">
              <a:extLst>
                <a:ext uri="{FF2B5EF4-FFF2-40B4-BE49-F238E27FC236}">
                  <a16:creationId xmlns:a16="http://schemas.microsoft.com/office/drawing/2014/main" id="{F483F7F4-B479-E67B-E4B5-30494314D45D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Overall management of engagement, resources, timeline and schedule, communications, and others.</a:t>
              </a:r>
            </a:p>
          </p:txBody>
        </p:sp>
        <p:sp>
          <p:nvSpPr>
            <p:cNvPr id="355" name="Text Placeholder 55">
              <a:extLst>
                <a:ext uri="{FF2B5EF4-FFF2-40B4-BE49-F238E27FC236}">
                  <a16:creationId xmlns:a16="http://schemas.microsoft.com/office/drawing/2014/main" id="{BCA6C193-6A16-2EBF-0B84-E2B47E397214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Project Lead</a:t>
              </a:r>
            </a:p>
          </p:txBody>
        </p:sp>
        <p:sp>
          <p:nvSpPr>
            <p:cNvPr id="356" name="Text Placeholder 55">
              <a:extLst>
                <a:ext uri="{FF2B5EF4-FFF2-40B4-BE49-F238E27FC236}">
                  <a16:creationId xmlns:a16="http://schemas.microsoft.com/office/drawing/2014/main" id="{582FB81B-31E0-4F97-64C4-C2B21A133C13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220E3E0-9606-8F17-A93C-F1A627E30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6F4CF7A0-E71B-5022-2CAD-E16F781F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4800600"/>
              <a:ext cx="894101" cy="894101"/>
            </a:xfrm>
            <a:prstGeom prst="ellipse">
              <a:avLst/>
            </a:prstGeom>
          </p:spPr>
        </p:pic>
        <p:sp>
          <p:nvSpPr>
            <p:cNvPr id="359" name="Picture Placeholder 60">
              <a:extLst>
                <a:ext uri="{FF2B5EF4-FFF2-40B4-BE49-F238E27FC236}">
                  <a16:creationId xmlns:a16="http://schemas.microsoft.com/office/drawing/2014/main" id="{A8932CD0-2A02-4E2F-047B-229DE9D8DEF1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7470ABE8-927A-4AB4-90B5-EE3A4E2898BB}"/>
              </a:ext>
            </a:extLst>
          </p:cNvPr>
          <p:cNvGrpSpPr/>
          <p:nvPr/>
        </p:nvGrpSpPr>
        <p:grpSpPr>
          <a:xfrm>
            <a:off x="3055112" y="4572000"/>
            <a:ext cx="3044952" cy="2286000"/>
            <a:chOff x="3055112" y="4572000"/>
            <a:chExt cx="3044952" cy="2286000"/>
          </a:xfrm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ED895FD-35C2-3B53-00C4-BEEAEF1AF7E0}"/>
                </a:ext>
              </a:extLst>
            </p:cNvPr>
            <p:cNvSpPr/>
            <p:nvPr/>
          </p:nvSpPr>
          <p:spPr>
            <a:xfrm>
              <a:off x="3055112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4" name="Text Placeholder 55">
              <a:extLst>
                <a:ext uri="{FF2B5EF4-FFF2-40B4-BE49-F238E27FC236}">
                  <a16:creationId xmlns:a16="http://schemas.microsoft.com/office/drawing/2014/main" id="{F7C1D723-FC3E-286C-9735-7140863ADF7C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Data classification and sensitive data identification, controls, and remediation.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5" name="Text Placeholder 55">
              <a:extLst>
                <a:ext uri="{FF2B5EF4-FFF2-40B4-BE49-F238E27FC236}">
                  <a16:creationId xmlns:a16="http://schemas.microsoft.com/office/drawing/2014/main" id="{9376C64D-2162-94D8-09B8-CCFCF4D9B5BA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 fontScale="92500"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Information Protection Manager</a:t>
              </a:r>
            </a:p>
          </p:txBody>
        </p:sp>
        <p:sp>
          <p:nvSpPr>
            <p:cNvPr id="366" name="Text Placeholder 55">
              <a:extLst>
                <a:ext uri="{FF2B5EF4-FFF2-40B4-BE49-F238E27FC236}">
                  <a16:creationId xmlns:a16="http://schemas.microsoft.com/office/drawing/2014/main" id="{9A0B600E-7321-7D8F-527F-72F40D8CEB20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5939009-C515-7F6D-4819-ACAE7FF39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C21FE692-A2A0-41EB-D8FB-0E74C77DC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4800600"/>
              <a:ext cx="894101" cy="894101"/>
            </a:xfrm>
            <a:prstGeom prst="ellipse">
              <a:avLst/>
            </a:prstGeom>
          </p:spPr>
        </p:pic>
        <p:sp>
          <p:nvSpPr>
            <p:cNvPr id="369" name="Picture Placeholder 60">
              <a:extLst>
                <a:ext uri="{FF2B5EF4-FFF2-40B4-BE49-F238E27FC236}">
                  <a16:creationId xmlns:a16="http://schemas.microsoft.com/office/drawing/2014/main" id="{E98A7EC6-E530-6615-5CBB-0F97495E2B46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53282996-87CC-60FA-7425-87FEEAF6B96E}"/>
              </a:ext>
            </a:extLst>
          </p:cNvPr>
          <p:cNvGrpSpPr/>
          <p:nvPr/>
        </p:nvGrpSpPr>
        <p:grpSpPr>
          <a:xfrm>
            <a:off x="6101080" y="4572000"/>
            <a:ext cx="3044952" cy="2286000"/>
            <a:chOff x="6101080" y="4572000"/>
            <a:chExt cx="3044952" cy="2286000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B9AD4C4-47CC-82DA-29BE-B8266994C113}"/>
                </a:ext>
              </a:extLst>
            </p:cNvPr>
            <p:cNvSpPr/>
            <p:nvPr/>
          </p:nvSpPr>
          <p:spPr>
            <a:xfrm>
              <a:off x="6101080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2" name="Text Placeholder 55">
              <a:extLst>
                <a:ext uri="{FF2B5EF4-FFF2-40B4-BE49-F238E27FC236}">
                  <a16:creationId xmlns:a16="http://schemas.microsoft.com/office/drawing/2014/main" id="{3A145F7D-82E6-996C-CAD9-B5A9575354E4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Technical requirements, architecture, reviews, decisions, and prioritization.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3" name="Text Placeholder 55">
              <a:extLst>
                <a:ext uri="{FF2B5EF4-FFF2-40B4-BE49-F238E27FC236}">
                  <a16:creationId xmlns:a16="http://schemas.microsoft.com/office/drawing/2014/main" id="{E20643D1-2416-72FA-29DB-41C3768B7154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Arch Lead</a:t>
              </a:r>
            </a:p>
          </p:txBody>
        </p:sp>
        <p:sp>
          <p:nvSpPr>
            <p:cNvPr id="374" name="Text Placeholder 55">
              <a:extLst>
                <a:ext uri="{FF2B5EF4-FFF2-40B4-BE49-F238E27FC236}">
                  <a16:creationId xmlns:a16="http://schemas.microsoft.com/office/drawing/2014/main" id="{6837D7DC-B846-EC72-FB20-B3E8169FE501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E7A16CA-B8F8-1DF3-23F3-6BE6FD00AD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178A135B-FE8B-3A7E-753D-09642212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4800600"/>
              <a:ext cx="894101" cy="894101"/>
            </a:xfrm>
            <a:prstGeom prst="ellipse">
              <a:avLst/>
            </a:prstGeom>
          </p:spPr>
        </p:pic>
        <p:sp>
          <p:nvSpPr>
            <p:cNvPr id="377" name="Picture Placeholder 60">
              <a:extLst>
                <a:ext uri="{FF2B5EF4-FFF2-40B4-BE49-F238E27FC236}">
                  <a16:creationId xmlns:a16="http://schemas.microsoft.com/office/drawing/2014/main" id="{09AC3D94-68CE-8AE4-456F-E89A6F9C126C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00CF972A-F227-53BB-59A3-1B4BBEAC9941}"/>
              </a:ext>
            </a:extLst>
          </p:cNvPr>
          <p:cNvGrpSpPr/>
          <p:nvPr/>
        </p:nvGrpSpPr>
        <p:grpSpPr>
          <a:xfrm>
            <a:off x="9147048" y="4572000"/>
            <a:ext cx="3044952" cy="2286000"/>
            <a:chOff x="9147048" y="4572000"/>
            <a:chExt cx="3044952" cy="2286000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B46482BD-958B-5546-05B6-1AA3EBFBED4D}"/>
                </a:ext>
              </a:extLst>
            </p:cNvPr>
            <p:cNvSpPr/>
            <p:nvPr/>
          </p:nvSpPr>
          <p:spPr>
            <a:xfrm>
              <a:off x="9147048" y="4572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0" name="Text Placeholder 55">
              <a:extLst>
                <a:ext uri="{FF2B5EF4-FFF2-40B4-BE49-F238E27FC236}">
                  <a16:creationId xmlns:a16="http://schemas.microsoft.com/office/drawing/2014/main" id="{ACFA086A-9FF0-5F19-7E7B-E20DC784A0B8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5796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Tenant and environment, preparation, configuration, and testing.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1" name="Text Placeholder 55">
              <a:extLst>
                <a:ext uri="{FF2B5EF4-FFF2-40B4-BE49-F238E27FC236}">
                  <a16:creationId xmlns:a16="http://schemas.microsoft.com/office/drawing/2014/main" id="{8B8D3F80-3F67-C6F8-0BDE-EBF8A692683F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4797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Microsoft 365 admins</a:t>
              </a:r>
            </a:p>
          </p:txBody>
        </p:sp>
        <p:sp>
          <p:nvSpPr>
            <p:cNvPr id="382" name="Text Placeholder 55">
              <a:extLst>
                <a:ext uri="{FF2B5EF4-FFF2-40B4-BE49-F238E27FC236}">
                  <a16:creationId xmlns:a16="http://schemas.microsoft.com/office/drawing/2014/main" id="{A1FD8693-277E-9B2A-156D-DD52C6A4F91E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5494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155CC9B3-F8B9-CA00-8F26-5502E0576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4800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3CBBCAB-9BA8-E61D-0C50-B525D4E7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4800600"/>
              <a:ext cx="894101" cy="894101"/>
            </a:xfrm>
            <a:prstGeom prst="ellipse">
              <a:avLst/>
            </a:prstGeom>
          </p:spPr>
        </p:pic>
        <p:sp>
          <p:nvSpPr>
            <p:cNvPr id="385" name="Picture Placeholder 60">
              <a:extLst>
                <a:ext uri="{FF2B5EF4-FFF2-40B4-BE49-F238E27FC236}">
                  <a16:creationId xmlns:a16="http://schemas.microsoft.com/office/drawing/2014/main" id="{7F211891-9E12-F93E-312A-49612D27A51B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4847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03E95A3-CEAD-7E13-9A7D-E1D16AF16FD2}"/>
              </a:ext>
            </a:extLst>
          </p:cNvPr>
          <p:cNvGrpSpPr/>
          <p:nvPr/>
        </p:nvGrpSpPr>
        <p:grpSpPr>
          <a:xfrm>
            <a:off x="0" y="2286000"/>
            <a:ext cx="3044952" cy="2286000"/>
            <a:chOff x="0" y="2286000"/>
            <a:chExt cx="3044952" cy="2286000"/>
          </a:xfrm>
        </p:grpSpPr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1F145B1B-9AC4-712F-1775-D7B247FA525A}"/>
                </a:ext>
              </a:extLst>
            </p:cNvPr>
            <p:cNvSpPr/>
            <p:nvPr/>
          </p:nvSpPr>
          <p:spPr>
            <a:xfrm>
              <a:off x="0" y="2286000"/>
              <a:ext cx="3044952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45" name="Text Placeholder 55">
              <a:extLst>
                <a:ext uri="{FF2B5EF4-FFF2-40B4-BE49-F238E27FC236}">
                  <a16:creationId xmlns:a16="http://schemas.microsoft.com/office/drawing/2014/main" id="{1D5A72F1-1F10-EBB2-A918-6BBA460CA704}"/>
                </a:ext>
              </a:extLst>
            </p:cNvPr>
            <p:cNvSpPr txBox="1">
              <a:spLocks/>
            </p:cNvSpPr>
            <p:nvPr/>
          </p:nvSpPr>
          <p:spPr>
            <a:xfrm>
              <a:off x="31251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Strategy, steering, escalation, approvals, business alignment, and coordination management</a:t>
              </a:r>
            </a:p>
          </p:txBody>
        </p:sp>
        <p:sp>
          <p:nvSpPr>
            <p:cNvPr id="446" name="Text Placeholder 55">
              <a:extLst>
                <a:ext uri="{FF2B5EF4-FFF2-40B4-BE49-F238E27FC236}">
                  <a16:creationId xmlns:a16="http://schemas.microsoft.com/office/drawing/2014/main" id="{47C2C648-E509-BE18-D5AE-9B66094E8CF8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Sponsor</a:t>
              </a:r>
            </a:p>
          </p:txBody>
        </p:sp>
        <p:sp>
          <p:nvSpPr>
            <p:cNvPr id="447" name="Text Placeholder 55">
              <a:extLst>
                <a:ext uri="{FF2B5EF4-FFF2-40B4-BE49-F238E27FC236}">
                  <a16:creationId xmlns:a16="http://schemas.microsoft.com/office/drawing/2014/main" id="{04ACE5EB-C651-1B32-385F-6BE5A9DA855A}"/>
                </a:ext>
              </a:extLst>
            </p:cNvPr>
            <p:cNvSpPr txBox="1">
              <a:spLocks/>
            </p:cNvSpPr>
            <p:nvPr/>
          </p:nvSpPr>
          <p:spPr>
            <a:xfrm>
              <a:off x="123139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76D1550-5190-0158-3698-81143158D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59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77955137-97BF-D3BE-7E44-2523843CF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99" y="2514600"/>
              <a:ext cx="894101" cy="894101"/>
            </a:xfrm>
            <a:prstGeom prst="ellipse">
              <a:avLst/>
            </a:prstGeom>
          </p:spPr>
        </p:pic>
        <p:sp>
          <p:nvSpPr>
            <p:cNvPr id="450" name="Picture Placeholder 60">
              <a:extLst>
                <a:ext uri="{FF2B5EF4-FFF2-40B4-BE49-F238E27FC236}">
                  <a16:creationId xmlns:a16="http://schemas.microsoft.com/office/drawing/2014/main" id="{89CE2168-4F97-6802-3B81-15A7548D19D9}"/>
                </a:ext>
              </a:extLst>
            </p:cNvPr>
            <p:cNvSpPr txBox="1">
              <a:spLocks/>
            </p:cNvSpPr>
            <p:nvPr/>
          </p:nvSpPr>
          <p:spPr>
            <a:xfrm>
              <a:off x="22859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E2D63EB-2166-B58A-350C-9E7845D01D4A}"/>
              </a:ext>
            </a:extLst>
          </p:cNvPr>
          <p:cNvGrpSpPr/>
          <p:nvPr/>
        </p:nvGrpSpPr>
        <p:grpSpPr>
          <a:xfrm>
            <a:off x="3055112" y="2286000"/>
            <a:ext cx="3044952" cy="2286000"/>
            <a:chOff x="3055112" y="2286000"/>
            <a:chExt cx="3044952" cy="228600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99EEEF3-B74D-6F8D-4EA4-CDD8072E146C}"/>
                </a:ext>
              </a:extLst>
            </p:cNvPr>
            <p:cNvSpPr/>
            <p:nvPr/>
          </p:nvSpPr>
          <p:spPr>
            <a:xfrm>
              <a:off x="3055112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53" name="Text Placeholder 55">
              <a:extLst>
                <a:ext uri="{FF2B5EF4-FFF2-40B4-BE49-F238E27FC236}">
                  <a16:creationId xmlns:a16="http://schemas.microsoft.com/office/drawing/2014/main" id="{45F688C0-14CE-C06C-F9D2-EFEA045B4408}"/>
                </a:ext>
              </a:extLst>
            </p:cNvPr>
            <p:cNvSpPr txBox="1">
              <a:spLocks/>
            </p:cNvSpPr>
            <p:nvPr/>
          </p:nvSpPr>
          <p:spPr>
            <a:xfrm>
              <a:off x="3367628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Protection and governance of data assets and systems, such as risk and policy determination and tracking and reporting.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54" name="Text Placeholder 55">
              <a:extLst>
                <a:ext uri="{FF2B5EF4-FFF2-40B4-BE49-F238E27FC236}">
                  <a16:creationId xmlns:a16="http://schemas.microsoft.com/office/drawing/2014/main" id="{4ABB963F-96FF-BC17-5AC7-96D0420E6F5D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CISO</a:t>
              </a:r>
            </a:p>
          </p:txBody>
        </p:sp>
        <p:sp>
          <p:nvSpPr>
            <p:cNvPr id="455" name="Text Placeholder 55">
              <a:extLst>
                <a:ext uri="{FF2B5EF4-FFF2-40B4-BE49-F238E27FC236}">
                  <a16:creationId xmlns:a16="http://schemas.microsoft.com/office/drawing/2014/main" id="{F37EB427-F678-E852-C7AC-1C068E42E707}"/>
                </a:ext>
              </a:extLst>
            </p:cNvPr>
            <p:cNvSpPr txBox="1">
              <a:spLocks/>
            </p:cNvSpPr>
            <p:nvPr/>
          </p:nvSpPr>
          <p:spPr>
            <a:xfrm>
              <a:off x="4286504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A0E28FC1-1159-F842-BA7D-61E1CEF68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3711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57" name="Picture 456">
              <a:extLst>
                <a:ext uri="{FF2B5EF4-FFF2-40B4-BE49-F238E27FC236}">
                  <a16:creationId xmlns:a16="http://schemas.microsoft.com/office/drawing/2014/main" id="{85CA704B-9CB7-57E4-D02A-923221BF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3711" y="2514600"/>
              <a:ext cx="894101" cy="894101"/>
            </a:xfrm>
            <a:prstGeom prst="ellipse">
              <a:avLst/>
            </a:prstGeom>
          </p:spPr>
        </p:pic>
        <p:sp>
          <p:nvSpPr>
            <p:cNvPr id="458" name="Picture Placeholder 60">
              <a:extLst>
                <a:ext uri="{FF2B5EF4-FFF2-40B4-BE49-F238E27FC236}">
                  <a16:creationId xmlns:a16="http://schemas.microsoft.com/office/drawing/2014/main" id="{A71164F2-9283-C375-C5D6-50E4AC63A369}"/>
                </a:ext>
              </a:extLst>
            </p:cNvPr>
            <p:cNvSpPr txBox="1">
              <a:spLocks/>
            </p:cNvSpPr>
            <p:nvPr/>
          </p:nvSpPr>
          <p:spPr>
            <a:xfrm>
              <a:off x="3283711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42D808F-D897-AC8E-EFC0-D37B4F98A756}"/>
              </a:ext>
            </a:extLst>
          </p:cNvPr>
          <p:cNvGrpSpPr/>
          <p:nvPr/>
        </p:nvGrpSpPr>
        <p:grpSpPr>
          <a:xfrm>
            <a:off x="6101080" y="2286000"/>
            <a:ext cx="3044952" cy="2286000"/>
            <a:chOff x="6101080" y="2286000"/>
            <a:chExt cx="3044952" cy="2286000"/>
          </a:xfrm>
        </p:grpSpPr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15BAFD63-A1A6-980F-C812-3A946CF0AF0B}"/>
                </a:ext>
              </a:extLst>
            </p:cNvPr>
            <p:cNvSpPr/>
            <p:nvPr/>
          </p:nvSpPr>
          <p:spPr>
            <a:xfrm>
              <a:off x="6101080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1" name="Text Placeholder 55">
              <a:extLst>
                <a:ext uri="{FF2B5EF4-FFF2-40B4-BE49-F238E27FC236}">
                  <a16:creationId xmlns:a16="http://schemas.microsoft.com/office/drawing/2014/main" id="{24595140-CAD8-8590-2CEB-3D8B4EC5CD53}"/>
                </a:ext>
              </a:extLst>
            </p:cNvPr>
            <p:cNvSpPr txBox="1">
              <a:spLocks/>
            </p:cNvSpPr>
            <p:nvPr/>
          </p:nvSpPr>
          <p:spPr>
            <a:xfrm>
              <a:off x="6413596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Determination of required controls to address compliance and protection requirements.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2" name="Text Placeholder 55">
              <a:extLst>
                <a:ext uri="{FF2B5EF4-FFF2-40B4-BE49-F238E27FC236}">
                  <a16:creationId xmlns:a16="http://schemas.microsoft.com/office/drawing/2014/main" id="{D8CA1B09-1426-655B-C4D1-86A931496BE7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IT Compliance Manager</a:t>
              </a:r>
            </a:p>
          </p:txBody>
        </p:sp>
        <p:sp>
          <p:nvSpPr>
            <p:cNvPr id="463" name="Text Placeholder 55">
              <a:extLst>
                <a:ext uri="{FF2B5EF4-FFF2-40B4-BE49-F238E27FC236}">
                  <a16:creationId xmlns:a16="http://schemas.microsoft.com/office/drawing/2014/main" id="{16D661C5-33B6-3009-0774-0B7C48B86D9C}"/>
                </a:ext>
              </a:extLst>
            </p:cNvPr>
            <p:cNvSpPr txBox="1">
              <a:spLocks/>
            </p:cNvSpPr>
            <p:nvPr/>
          </p:nvSpPr>
          <p:spPr>
            <a:xfrm>
              <a:off x="7332472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FFB5BE3-94B3-F04F-F386-AF9D8764C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679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B8B8BBBE-26A9-79D5-3F7E-0E6A39E85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29679" y="2514600"/>
              <a:ext cx="894101" cy="894101"/>
            </a:xfrm>
            <a:prstGeom prst="ellipse">
              <a:avLst/>
            </a:prstGeom>
          </p:spPr>
        </p:pic>
        <p:sp>
          <p:nvSpPr>
            <p:cNvPr id="466" name="Picture Placeholder 60">
              <a:extLst>
                <a:ext uri="{FF2B5EF4-FFF2-40B4-BE49-F238E27FC236}">
                  <a16:creationId xmlns:a16="http://schemas.microsoft.com/office/drawing/2014/main" id="{33AD23CB-2160-4595-63A8-E028B5628FA6}"/>
                </a:ext>
              </a:extLst>
            </p:cNvPr>
            <p:cNvSpPr txBox="1">
              <a:spLocks/>
            </p:cNvSpPr>
            <p:nvPr/>
          </p:nvSpPr>
          <p:spPr>
            <a:xfrm>
              <a:off x="6329679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2C84B16-5599-8F97-4CDA-579B90D8C98C}"/>
              </a:ext>
            </a:extLst>
          </p:cNvPr>
          <p:cNvGrpSpPr/>
          <p:nvPr/>
        </p:nvGrpSpPr>
        <p:grpSpPr>
          <a:xfrm>
            <a:off x="9147048" y="2286000"/>
            <a:ext cx="3044952" cy="2286000"/>
            <a:chOff x="9147048" y="2286000"/>
            <a:chExt cx="3044952" cy="2286000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336EF26-F934-0C12-D173-E83A7A1E40F2}"/>
                </a:ext>
              </a:extLst>
            </p:cNvPr>
            <p:cNvSpPr/>
            <p:nvPr/>
          </p:nvSpPr>
          <p:spPr>
            <a:xfrm>
              <a:off x="9147048" y="2286000"/>
              <a:ext cx="3044952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9" name="Text Placeholder 55">
              <a:extLst>
                <a:ext uri="{FF2B5EF4-FFF2-40B4-BE49-F238E27FC236}">
                  <a16:creationId xmlns:a16="http://schemas.microsoft.com/office/drawing/2014/main" id="{5342EB99-D756-8874-DF11-28B45E05A559}"/>
                </a:ext>
              </a:extLst>
            </p:cNvPr>
            <p:cNvSpPr txBox="1">
              <a:spLocks/>
            </p:cNvSpPr>
            <p:nvPr/>
          </p:nvSpPr>
          <p:spPr>
            <a:xfrm>
              <a:off x="9459564" y="3510140"/>
              <a:ext cx="2503836" cy="830997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61616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Investigation and reporting in cooperation with compliance and protection leads.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70" name="Text Placeholder 55">
              <a:extLst>
                <a:ext uri="{FF2B5EF4-FFF2-40B4-BE49-F238E27FC236}">
                  <a16:creationId xmlns:a16="http://schemas.microsoft.com/office/drawing/2014/main" id="{30F1484D-75AD-2C25-3F9F-1C04368F2FE1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2511830"/>
              <a:ext cx="1584960" cy="633534"/>
            </a:xfrm>
            <a:prstGeom prst="rect">
              <a:avLst/>
            </a:prstGeom>
          </p:spPr>
          <p:txBody>
            <a:bodyPr wrap="square" lIns="0" tIns="0" rIns="0" bIns="0" anchor="b" anchorCtr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Investigation and audit roles</a:t>
              </a:r>
            </a:p>
          </p:txBody>
        </p:sp>
        <p:sp>
          <p:nvSpPr>
            <p:cNvPr id="471" name="Text Placeholder 55">
              <a:extLst>
                <a:ext uri="{FF2B5EF4-FFF2-40B4-BE49-F238E27FC236}">
                  <a16:creationId xmlns:a16="http://schemas.microsoft.com/office/drawing/2014/main" id="{5A16AE31-69CA-FBD5-3FD0-CB6AD21606CA}"/>
                </a:ext>
              </a:extLst>
            </p:cNvPr>
            <p:cNvSpPr txBox="1">
              <a:spLocks/>
            </p:cNvSpPr>
            <p:nvPr/>
          </p:nvSpPr>
          <p:spPr>
            <a:xfrm>
              <a:off x="10378440" y="3208123"/>
              <a:ext cx="1584960" cy="19353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A7F58B91-9E9D-EA18-D23E-CE92AB12E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5647" y="2514600"/>
              <a:ext cx="894101" cy="8941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53087609-4268-7806-63D2-82B59EE3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75647" y="2514600"/>
              <a:ext cx="894101" cy="894101"/>
            </a:xfrm>
            <a:prstGeom prst="ellipse">
              <a:avLst/>
            </a:prstGeom>
          </p:spPr>
        </p:pic>
        <p:sp>
          <p:nvSpPr>
            <p:cNvPr id="474" name="Picture Placeholder 60">
              <a:extLst>
                <a:ext uri="{FF2B5EF4-FFF2-40B4-BE49-F238E27FC236}">
                  <a16:creationId xmlns:a16="http://schemas.microsoft.com/office/drawing/2014/main" id="{153CDC19-6AF4-9439-99C7-4032867B0C95}"/>
                </a:ext>
              </a:extLst>
            </p:cNvPr>
            <p:cNvSpPr txBox="1">
              <a:spLocks/>
            </p:cNvSpPr>
            <p:nvPr/>
          </p:nvSpPr>
          <p:spPr>
            <a:xfrm>
              <a:off x="9375647" y="2561803"/>
              <a:ext cx="894101" cy="8945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01D822-1973-06AF-32F7-062F844F03ED}"/>
              </a:ext>
            </a:extLst>
          </p:cNvPr>
          <p:cNvSpPr txBox="1">
            <a:spLocks/>
          </p:cNvSpPr>
          <p:nvPr/>
        </p:nvSpPr>
        <p:spPr>
          <a:xfrm>
            <a:off x="224943" y="482561"/>
            <a:ext cx="2641240" cy="1255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j-ea"/>
                <a:cs typeface="+mj-cs"/>
              </a:rPr>
              <a:t>Regulatory Compliance Stakeholders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121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crosoft Security">
      <a:dk1>
        <a:srgbClr val="2F2F2F"/>
      </a:dk1>
      <a:lt1>
        <a:srgbClr val="FFFFFF"/>
      </a:lt1>
      <a:dk2>
        <a:srgbClr val="505050"/>
      </a:dk2>
      <a:lt2>
        <a:srgbClr val="F2F2F2"/>
      </a:lt2>
      <a:accent1>
        <a:srgbClr val="0078D4"/>
      </a:accent1>
      <a:accent2>
        <a:srgbClr val="107C10"/>
      </a:accent2>
      <a:accent3>
        <a:srgbClr val="D83B01"/>
      </a:accent3>
      <a:accent4>
        <a:srgbClr val="FFB900"/>
      </a:accent4>
      <a:accent5>
        <a:srgbClr val="243A5E"/>
      </a:accent5>
      <a:accent6>
        <a:srgbClr val="054B16"/>
      </a:accent6>
      <a:hlink>
        <a:srgbClr val="0078D4"/>
      </a:hlink>
      <a:folHlink>
        <a:srgbClr val="243A5E"/>
      </a:folHlink>
    </a:clrScheme>
    <a:fontScheme name="Microsoft Branding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1EF2EFABE5A640834AB8DD3E897F3B" ma:contentTypeVersion="20" ma:contentTypeDescription="Create a new document." ma:contentTypeScope="" ma:versionID="6303f035a0111c80ca79609b3283dd5f">
  <xsd:schema xmlns:xsd="http://www.w3.org/2001/XMLSchema" xmlns:xs="http://www.w3.org/2001/XMLSchema" xmlns:p="http://schemas.microsoft.com/office/2006/metadata/properties" xmlns:ns1="http://schemas.microsoft.com/sharepoint/v3" xmlns:ns2="f7af6808-85f2-4e43-9ab2-6fc9fa92143e" xmlns:ns3="230e9df3-be65-4c73-a93b-d1236ebd677e" xmlns:ns4="388aaa3c-76c0-48a6-84f5-ce8b9f5c50c9" targetNamespace="http://schemas.microsoft.com/office/2006/metadata/properties" ma:root="true" ma:fieldsID="a8e4955f67a77852cf9daa9a4fe6de68" ns1:_="" ns2:_="" ns3:_="" ns4:_="">
    <xsd:import namespace="http://schemas.microsoft.com/sharepoint/v3"/>
    <xsd:import namespace="f7af6808-85f2-4e43-9ab2-6fc9fa92143e"/>
    <xsd:import namespace="230e9df3-be65-4c73-a93b-d1236ebd677e"/>
    <xsd:import namespace="388aaa3c-76c0-48a6-84f5-ce8b9f5c50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ImageTagsTaxHTField" minOccurs="0"/>
                <xsd:element ref="ns3:TaxCatchAll" minOccurs="0"/>
                <xsd:element ref="ns2:MediaServiceAutoKeyPoints" minOccurs="0"/>
                <xsd:element ref="ns2:MediaServiceKeyPoints" minOccurs="0"/>
                <xsd:element ref="ns4:SharedWithUsers" minOccurs="0"/>
                <xsd:element ref="ns4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GenerationTime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EventHashCode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af6808-85f2-4e43-9ab2-6fc9fa9214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1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ocTags" ma:index="25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1589cc8-aec8-4c95-bba9-0468abe44e39}" ma:internalName="TaxCatchAll" ma:showField="CatchAllData" ma:web="388aaa3c-76c0-48a6-84f5-ce8b9f5c50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8aaa3c-76c0-48a6-84f5-ce8b9f5c50c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Metadata xmlns="f7af6808-85f2-4e43-9ab2-6fc9fa92143e" xsi:nil="true"/>
    <MediaServiceGenerationTime xmlns="f7af6808-85f2-4e43-9ab2-6fc9fa92143e" xsi:nil="true"/>
    <MediaServiceEventHashCode xmlns="f7af6808-85f2-4e43-9ab2-6fc9fa92143e" xsi:nil="true"/>
    <ImageTagsTaxHTField xmlns="f7af6808-85f2-4e43-9ab2-6fc9fa92143e">
      <Terms xmlns="http://schemas.microsoft.com/office/infopath/2007/PartnerControls"/>
    </ImageTagsTaxHTField>
    <MediaServiceKeyPoints xmlns="f7af6808-85f2-4e43-9ab2-6fc9fa92143e" xsi:nil="true"/>
    <MediaServiceAutoKeyPoints xmlns="f7af6808-85f2-4e43-9ab2-6fc9fa92143e" xsi:nil="true"/>
    <MediaServiceFastMetadata xmlns="f7af6808-85f2-4e43-9ab2-6fc9fa92143e" xsi:nil="true"/>
    <SharedWithUsers xmlns="388aaa3c-76c0-48a6-84f5-ce8b9f5c50c9">
      <UserInfo>
        <DisplayName>Michael Madrigal</DisplayName>
        <AccountId>6419</AccountId>
        <AccountType/>
      </UserInfo>
      <UserInfo>
        <DisplayName>Brenda Carter</DisplayName>
        <AccountId>49</AccountId>
        <AccountType/>
      </UserInfo>
      <UserInfo>
        <DisplayName>Kim Kischel</DisplayName>
        <AccountId>2401</AccountId>
        <AccountType/>
      </UserInfo>
      <UserInfo>
        <DisplayName>Mark Simos</DisplayName>
        <AccountId>16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A262D09-A64A-4DE5-AAB4-A79BEC1BAF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6F71D3-AF4E-4DD9-ABD3-74C3E093DE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7af6808-85f2-4e43-9ab2-6fc9fa92143e"/>
    <ds:schemaRef ds:uri="230e9df3-be65-4c73-a93b-d1236ebd677e"/>
    <ds:schemaRef ds:uri="388aaa3c-76c0-48a6-84f5-ce8b9f5c50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BE2C3F-2D7A-4753-969A-E72D45376021}">
  <ds:schemaRefs>
    <ds:schemaRef ds:uri="230e9df3-be65-4c73-a93b-d1236ebd677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388aaa3c-76c0-48a6-84f5-ce8b9f5c50c9"/>
    <ds:schemaRef ds:uri="f7af6808-85f2-4e43-9ab2-6fc9fa92143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2070</Words>
  <Application>Microsoft Office PowerPoint</Application>
  <PresentationFormat>Widescreen</PresentationFormat>
  <Paragraphs>390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Segoe UI</vt:lpstr>
      <vt:lpstr>Segoe UI Semibold</vt:lpstr>
      <vt:lpstr>Times New Roman</vt:lpstr>
      <vt:lpstr>Office Theme</vt:lpstr>
      <vt:lpstr>Zero Trust adoption resources</vt:lpstr>
      <vt:lpstr>What’s included?</vt:lpstr>
      <vt:lpstr>PowerPoint Presentation</vt:lpstr>
      <vt:lpstr>PowerPoint Presentation</vt:lpstr>
      <vt:lpstr>Rapidly modernize your security posture</vt:lpstr>
      <vt:lpstr>PowerPoint Presentation</vt:lpstr>
      <vt:lpstr>PowerPoint Presentation</vt:lpstr>
      <vt:lpstr>Secure remote and hybrid work</vt:lpstr>
      <vt:lpstr>PowerPoint Presentation</vt:lpstr>
      <vt:lpstr>PowerPoint Presentation</vt:lpstr>
      <vt:lpstr>Identify and protect sensitive business data</vt:lpstr>
      <vt:lpstr>PowerPoint Presentation</vt:lpstr>
      <vt:lpstr>PowerPoint Presentation</vt:lpstr>
      <vt:lpstr>Prevent or reduce damage from a breach</vt:lpstr>
      <vt:lpstr>PowerPoint Presentation</vt:lpstr>
      <vt:lpstr>PowerPoint Presentation</vt:lpstr>
      <vt:lpstr>PowerPoint Presentation</vt:lpstr>
      <vt:lpstr>PowerPoint Presentation</vt:lpstr>
      <vt:lpstr>Meet regulatory and compliance requirements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Adoption Resources</dc:title>
  <dc:creator>Microsoft</dc:creator>
  <cp:lastModifiedBy>Brenda Carter</cp:lastModifiedBy>
  <cp:revision>10</cp:revision>
  <dcterms:created xsi:type="dcterms:W3CDTF">2023-02-06T17:04:58Z</dcterms:created>
  <dcterms:modified xsi:type="dcterms:W3CDTF">2024-11-14T03:50:32Z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0x010100351EF2EFABE5A640834AB8DD3E897F3B</vt:lpwstr>
  </property>
  <property fmtid="{D5CDD505-2E9C-101B-9397-08002B2CF9AE}" pid="3" name="MediaServiceImageTags">
    <vt:lpwstr/>
  </property>
</Properties>
</file>